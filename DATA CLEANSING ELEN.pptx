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Pragmatica Bold" charset="1" panose="020B0703040502020204"/>
      <p:regular r:id="rId16"/>
    </p:embeddedFont>
    <p:embeddedFont>
      <p:font typeface="Pragmatica" charset="1" panose="020B0503040502020204"/>
      <p:regular r:id="rId17"/>
    </p:embeddedFont>
    <p:embeddedFont>
      <p:font typeface="Open Sauce Bold" charset="1" panose="00000800000000000000"/>
      <p:regular r:id="rId18"/>
    </p:embeddedFont>
    <p:embeddedFont>
      <p:font typeface="Open Sauce" charset="1" panose="00000500000000000000"/>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jpeg" Type="http://schemas.openxmlformats.org/officeDocument/2006/relationships/image"/><Relationship Id="rId5" Target="../media/image4.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jpeg" Type="http://schemas.openxmlformats.org/officeDocument/2006/relationships/image"/><Relationship Id="rId5" Target="../media/image6.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7.jpeg" Type="http://schemas.openxmlformats.org/officeDocument/2006/relationships/image"/><Relationship Id="rId5" Target="../media/image8.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9.jpeg" Type="http://schemas.openxmlformats.org/officeDocument/2006/relationships/image"/><Relationship Id="rId5" Target="../media/image10.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1.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0F0F0"/>
        </a:solidFill>
      </p:bgPr>
    </p:bg>
    <p:spTree>
      <p:nvGrpSpPr>
        <p:cNvPr id="1" name=""/>
        <p:cNvGrpSpPr/>
        <p:nvPr/>
      </p:nvGrpSpPr>
      <p:grpSpPr>
        <a:xfrm>
          <a:off x="0" y="0"/>
          <a:ext cx="0" cy="0"/>
          <a:chOff x="0" y="0"/>
          <a:chExt cx="0" cy="0"/>
        </a:xfrm>
      </p:grpSpPr>
      <p:sp>
        <p:nvSpPr>
          <p:cNvPr name="Freeform 2" id="2"/>
          <p:cNvSpPr/>
          <p:nvPr/>
        </p:nvSpPr>
        <p:spPr>
          <a:xfrm flipH="false" flipV="false" rot="0">
            <a:off x="13002148" y="5371640"/>
            <a:ext cx="6655681" cy="6413656"/>
          </a:xfrm>
          <a:custGeom>
            <a:avLst/>
            <a:gdLst/>
            <a:ahLst/>
            <a:cxnLst/>
            <a:rect r="r" b="b" t="t" l="l"/>
            <a:pathLst>
              <a:path h="6413656" w="6655681">
                <a:moveTo>
                  <a:pt x="0" y="0"/>
                </a:moveTo>
                <a:lnTo>
                  <a:pt x="6655681" y="0"/>
                </a:lnTo>
                <a:lnTo>
                  <a:pt x="6655681" y="6413656"/>
                </a:lnTo>
                <a:lnTo>
                  <a:pt x="0" y="6413656"/>
                </a:lnTo>
                <a:lnTo>
                  <a:pt x="0" y="0"/>
                </a:lnTo>
                <a:close/>
              </a:path>
            </a:pathLst>
          </a:custGeom>
          <a:blipFill>
            <a:blip r:embed="rId2">
              <a:alphaModFix amt="3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0800000">
            <a:off x="-1516160" y="-3959080"/>
            <a:ext cx="6655681" cy="6413656"/>
          </a:xfrm>
          <a:custGeom>
            <a:avLst/>
            <a:gdLst/>
            <a:ahLst/>
            <a:cxnLst/>
            <a:rect r="r" b="b" t="t" l="l"/>
            <a:pathLst>
              <a:path h="6413656" w="6655681">
                <a:moveTo>
                  <a:pt x="0" y="0"/>
                </a:moveTo>
                <a:lnTo>
                  <a:pt x="6655681" y="0"/>
                </a:lnTo>
                <a:lnTo>
                  <a:pt x="6655681" y="6413656"/>
                </a:lnTo>
                <a:lnTo>
                  <a:pt x="0" y="6413656"/>
                </a:lnTo>
                <a:lnTo>
                  <a:pt x="0" y="0"/>
                </a:lnTo>
                <a:close/>
              </a:path>
            </a:pathLst>
          </a:custGeom>
          <a:blipFill>
            <a:blip r:embed="rId2">
              <a:alphaModFix amt="3000"/>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463766" y="3626061"/>
            <a:ext cx="18105310" cy="2443055"/>
          </a:xfrm>
          <a:prstGeom prst="rect">
            <a:avLst/>
          </a:prstGeom>
        </p:spPr>
        <p:txBody>
          <a:bodyPr anchor="t" rtlCol="false" tIns="0" lIns="0" bIns="0" rIns="0">
            <a:spAutoFit/>
          </a:bodyPr>
          <a:lstStyle/>
          <a:p>
            <a:pPr algn="l">
              <a:lnSpc>
                <a:spcPts val="17760"/>
              </a:lnSpc>
            </a:pPr>
            <a:r>
              <a:rPr lang="en-US" sz="19956" b="true">
                <a:solidFill>
                  <a:srgbClr val="0B0027"/>
                </a:solidFill>
                <a:latin typeface="Pragmatica Bold"/>
                <a:ea typeface="Pragmatica Bold"/>
                <a:cs typeface="Pragmatica Bold"/>
                <a:sym typeface="Pragmatica Bold"/>
              </a:rPr>
              <a:t>DAT</a:t>
            </a:r>
            <a:r>
              <a:rPr lang="en-US" b="true" sz="19956">
                <a:solidFill>
                  <a:srgbClr val="0B0027"/>
                </a:solidFill>
                <a:latin typeface="Pragmatica Bold"/>
                <a:ea typeface="Pragmatica Bold"/>
                <a:cs typeface="Pragmatica Bold"/>
                <a:sym typeface="Pragmatica Bold"/>
              </a:rPr>
              <a:t>A MINING</a:t>
            </a:r>
          </a:p>
        </p:txBody>
      </p:sp>
      <p:sp>
        <p:nvSpPr>
          <p:cNvPr name="TextBox 5" id="5"/>
          <p:cNvSpPr txBox="true"/>
          <p:nvPr/>
        </p:nvSpPr>
        <p:spPr>
          <a:xfrm rot="0">
            <a:off x="2415609" y="5708409"/>
            <a:ext cx="13456782" cy="959540"/>
          </a:xfrm>
          <a:prstGeom prst="rect">
            <a:avLst/>
          </a:prstGeom>
        </p:spPr>
        <p:txBody>
          <a:bodyPr anchor="t" rtlCol="false" tIns="0" lIns="0" bIns="0" rIns="0">
            <a:spAutoFit/>
          </a:bodyPr>
          <a:lstStyle/>
          <a:p>
            <a:pPr algn="l">
              <a:lnSpc>
                <a:spcPts val="7049"/>
              </a:lnSpc>
            </a:pPr>
            <a:r>
              <a:rPr lang="en-US" sz="7920">
                <a:solidFill>
                  <a:srgbClr val="0B0027"/>
                </a:solidFill>
                <a:latin typeface="Pragmatica"/>
                <a:ea typeface="Pragmatica"/>
                <a:cs typeface="Pragmatica"/>
                <a:sym typeface="Pragmatica"/>
              </a:rPr>
              <a:t>DATA CLEANSING </a:t>
            </a:r>
            <a:r>
              <a:rPr lang="en-US" sz="7920">
                <a:solidFill>
                  <a:srgbClr val="0B0027"/>
                </a:solidFill>
                <a:latin typeface="Pragmatica"/>
                <a:ea typeface="Pragmatica"/>
                <a:cs typeface="Pragmatica"/>
                <a:sym typeface="Pragmatica"/>
              </a:rPr>
              <a:t>PROJECT</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0F0F0"/>
        </a:solidFill>
      </p:bgPr>
    </p:bg>
    <p:spTree>
      <p:nvGrpSpPr>
        <p:cNvPr id="1" name=""/>
        <p:cNvGrpSpPr/>
        <p:nvPr/>
      </p:nvGrpSpPr>
      <p:grpSpPr>
        <a:xfrm>
          <a:off x="0" y="0"/>
          <a:ext cx="0" cy="0"/>
          <a:chOff x="0" y="0"/>
          <a:chExt cx="0" cy="0"/>
        </a:xfrm>
      </p:grpSpPr>
      <p:sp>
        <p:nvSpPr>
          <p:cNvPr name="Freeform 2" id="2"/>
          <p:cNvSpPr/>
          <p:nvPr/>
        </p:nvSpPr>
        <p:spPr>
          <a:xfrm flipH="false" flipV="true" rot="0">
            <a:off x="12464351" y="-1685644"/>
            <a:ext cx="6655681" cy="6413656"/>
          </a:xfrm>
          <a:custGeom>
            <a:avLst/>
            <a:gdLst/>
            <a:ahLst/>
            <a:cxnLst/>
            <a:rect r="r" b="b" t="t" l="l"/>
            <a:pathLst>
              <a:path h="6413656" w="6655681">
                <a:moveTo>
                  <a:pt x="0" y="6413656"/>
                </a:moveTo>
                <a:lnTo>
                  <a:pt x="6655681" y="6413656"/>
                </a:lnTo>
                <a:lnTo>
                  <a:pt x="6655681" y="0"/>
                </a:lnTo>
                <a:lnTo>
                  <a:pt x="0" y="0"/>
                </a:lnTo>
                <a:lnTo>
                  <a:pt x="0" y="6413656"/>
                </a:lnTo>
                <a:close/>
              </a:path>
            </a:pathLst>
          </a:custGeom>
          <a:blipFill>
            <a:blip r:embed="rId2">
              <a:alphaModFix amt="3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400000">
            <a:off x="-1612821" y="6234998"/>
            <a:ext cx="6655681" cy="6413656"/>
          </a:xfrm>
          <a:custGeom>
            <a:avLst/>
            <a:gdLst/>
            <a:ahLst/>
            <a:cxnLst/>
            <a:rect r="r" b="b" t="t" l="l"/>
            <a:pathLst>
              <a:path h="6413656" w="6655681">
                <a:moveTo>
                  <a:pt x="0" y="0"/>
                </a:moveTo>
                <a:lnTo>
                  <a:pt x="6655681" y="0"/>
                </a:lnTo>
                <a:lnTo>
                  <a:pt x="6655681" y="6413656"/>
                </a:lnTo>
                <a:lnTo>
                  <a:pt x="0" y="6413656"/>
                </a:lnTo>
                <a:lnTo>
                  <a:pt x="0" y="0"/>
                </a:lnTo>
                <a:close/>
              </a:path>
            </a:pathLst>
          </a:custGeom>
          <a:blipFill>
            <a:blip r:embed="rId2">
              <a:alphaModFix amt="3000"/>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1028700" y="2115555"/>
            <a:ext cx="3355885" cy="3027945"/>
            <a:chOff x="0" y="0"/>
            <a:chExt cx="519914" cy="469108"/>
          </a:xfrm>
        </p:grpSpPr>
        <p:sp>
          <p:nvSpPr>
            <p:cNvPr name="Freeform 5" id="5"/>
            <p:cNvSpPr/>
            <p:nvPr/>
          </p:nvSpPr>
          <p:spPr>
            <a:xfrm flipH="false" flipV="false" rot="0">
              <a:off x="0" y="0"/>
              <a:ext cx="519914" cy="469108"/>
            </a:xfrm>
            <a:custGeom>
              <a:avLst/>
              <a:gdLst/>
              <a:ahLst/>
              <a:cxnLst/>
              <a:rect r="r" b="b" t="t" l="l"/>
              <a:pathLst>
                <a:path h="469108" w="519914">
                  <a:moveTo>
                    <a:pt x="0" y="0"/>
                  </a:moveTo>
                  <a:lnTo>
                    <a:pt x="519914" y="0"/>
                  </a:lnTo>
                  <a:lnTo>
                    <a:pt x="519914" y="469108"/>
                  </a:lnTo>
                  <a:lnTo>
                    <a:pt x="0" y="469108"/>
                  </a:lnTo>
                  <a:close/>
                </a:path>
              </a:pathLst>
            </a:custGeom>
            <a:blipFill>
              <a:blip r:embed="rId4"/>
              <a:stretch>
                <a:fillRect l="-17609" t="0" r="-17609" b="0"/>
              </a:stretch>
            </a:blipFill>
          </p:spPr>
        </p:sp>
      </p:grpSp>
      <p:sp>
        <p:nvSpPr>
          <p:cNvPr name="TextBox 6" id="6"/>
          <p:cNvSpPr txBox="true"/>
          <p:nvPr/>
        </p:nvSpPr>
        <p:spPr>
          <a:xfrm rot="0">
            <a:off x="4777431" y="1294472"/>
            <a:ext cx="10315923" cy="405798"/>
          </a:xfrm>
          <a:prstGeom prst="rect">
            <a:avLst/>
          </a:prstGeom>
        </p:spPr>
        <p:txBody>
          <a:bodyPr anchor="t" rtlCol="false" tIns="0" lIns="0" bIns="0" rIns="0">
            <a:spAutoFit/>
          </a:bodyPr>
          <a:lstStyle/>
          <a:p>
            <a:pPr algn="r">
              <a:lnSpc>
                <a:spcPts val="3359"/>
              </a:lnSpc>
            </a:pPr>
            <a:r>
              <a:rPr lang="en-US" b="true" sz="2399">
                <a:solidFill>
                  <a:srgbClr val="0B0027"/>
                </a:solidFill>
                <a:latin typeface="Open Sauce Bold"/>
                <a:ea typeface="Open Sauce Bold"/>
                <a:cs typeface="Open Sauce Bold"/>
                <a:sym typeface="Open Sauce Bold"/>
              </a:rPr>
              <a:t>Pembersihan dan Persiapan Data Keaktifan Pemuda Karang Taruna</a:t>
            </a:r>
          </a:p>
        </p:txBody>
      </p:sp>
      <p:grpSp>
        <p:nvGrpSpPr>
          <p:cNvPr name="Group 7" id="7"/>
          <p:cNvGrpSpPr/>
          <p:nvPr/>
        </p:nvGrpSpPr>
        <p:grpSpPr>
          <a:xfrm rot="0">
            <a:off x="4598370" y="2115555"/>
            <a:ext cx="5337023" cy="3027945"/>
            <a:chOff x="0" y="0"/>
            <a:chExt cx="826845" cy="469108"/>
          </a:xfrm>
        </p:grpSpPr>
        <p:sp>
          <p:nvSpPr>
            <p:cNvPr name="Freeform 8" id="8"/>
            <p:cNvSpPr/>
            <p:nvPr/>
          </p:nvSpPr>
          <p:spPr>
            <a:xfrm flipH="false" flipV="false" rot="0">
              <a:off x="0" y="0"/>
              <a:ext cx="826844" cy="469108"/>
            </a:xfrm>
            <a:custGeom>
              <a:avLst/>
              <a:gdLst/>
              <a:ahLst/>
              <a:cxnLst/>
              <a:rect r="r" b="b" t="t" l="l"/>
              <a:pathLst>
                <a:path h="469108" w="826844">
                  <a:moveTo>
                    <a:pt x="0" y="0"/>
                  </a:moveTo>
                  <a:lnTo>
                    <a:pt x="826844" y="0"/>
                  </a:lnTo>
                  <a:lnTo>
                    <a:pt x="826844" y="469108"/>
                  </a:lnTo>
                  <a:lnTo>
                    <a:pt x="0" y="469108"/>
                  </a:lnTo>
                  <a:close/>
                </a:path>
              </a:pathLst>
            </a:custGeom>
            <a:blipFill>
              <a:blip r:embed="rId5"/>
              <a:stretch>
                <a:fillRect l="0" t="-82074" r="0" b="-82074"/>
              </a:stretch>
            </a:blipFill>
          </p:spPr>
        </p:sp>
      </p:grpSp>
      <p:sp>
        <p:nvSpPr>
          <p:cNvPr name="TextBox 9" id="9"/>
          <p:cNvSpPr txBox="true"/>
          <p:nvPr/>
        </p:nvSpPr>
        <p:spPr>
          <a:xfrm rot="0">
            <a:off x="10434843" y="2580626"/>
            <a:ext cx="6486463" cy="1253894"/>
          </a:xfrm>
          <a:prstGeom prst="rect">
            <a:avLst/>
          </a:prstGeom>
        </p:spPr>
        <p:txBody>
          <a:bodyPr anchor="t" rtlCol="false" tIns="0" lIns="0" bIns="0" rIns="0">
            <a:spAutoFit/>
          </a:bodyPr>
          <a:lstStyle/>
          <a:p>
            <a:pPr algn="just">
              <a:lnSpc>
                <a:spcPts val="10943"/>
              </a:lnSpc>
            </a:pPr>
            <a:r>
              <a:rPr lang="en-US" sz="5471">
                <a:solidFill>
                  <a:srgbClr val="0B0027"/>
                </a:solidFill>
                <a:latin typeface="Open Sauce"/>
                <a:ea typeface="Open Sauce"/>
                <a:cs typeface="Open Sauce"/>
                <a:sym typeface="Open Sauce"/>
              </a:rPr>
              <a:t>LATAR BELAKANG</a:t>
            </a:r>
          </a:p>
        </p:txBody>
      </p:sp>
      <p:sp>
        <p:nvSpPr>
          <p:cNvPr name="TextBox 10" id="10"/>
          <p:cNvSpPr txBox="true"/>
          <p:nvPr/>
        </p:nvSpPr>
        <p:spPr>
          <a:xfrm rot="0">
            <a:off x="1028700" y="5334000"/>
            <a:ext cx="15073242" cy="5253760"/>
          </a:xfrm>
          <a:prstGeom prst="rect">
            <a:avLst/>
          </a:prstGeom>
        </p:spPr>
        <p:txBody>
          <a:bodyPr anchor="t" rtlCol="false" tIns="0" lIns="0" bIns="0" rIns="0">
            <a:spAutoFit/>
          </a:bodyPr>
          <a:lstStyle/>
          <a:p>
            <a:pPr algn="just">
              <a:lnSpc>
                <a:spcPts val="6034"/>
              </a:lnSpc>
            </a:pPr>
            <a:r>
              <a:rPr lang="en-US" sz="3017">
                <a:solidFill>
                  <a:srgbClr val="0B0027"/>
                </a:solidFill>
                <a:latin typeface="Open Sauce"/>
                <a:ea typeface="Open Sauce"/>
                <a:cs typeface="Open Sauce"/>
                <a:sym typeface="Open Sauce"/>
              </a:rPr>
              <a:t>Data yang diperoleh dari proses pengumpulan data sering kali memiliki berbagai permasalahan, seperti Data kosong (missing value), Data duplikat, Format data yang tidak konsisten, Kesalahan penulisan, Perbedaan format angka, Data yang tidak sesuai dengan aturan. Oleh karena itu, diperlukan proses data cleansing untuk meningkatkan kualitas dan konsistensi dataset sebelum digunakan dalam proses analisis atau Data Mining.</a:t>
            </a:r>
          </a:p>
          <a:p>
            <a:pPr algn="just">
              <a:lnSpc>
                <a:spcPts val="6034"/>
              </a:lnSpc>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0F0F0"/>
        </a:solidFill>
      </p:bgPr>
    </p:bg>
    <p:spTree>
      <p:nvGrpSpPr>
        <p:cNvPr id="1" name=""/>
        <p:cNvGrpSpPr/>
        <p:nvPr/>
      </p:nvGrpSpPr>
      <p:grpSpPr>
        <a:xfrm>
          <a:off x="0" y="0"/>
          <a:ext cx="0" cy="0"/>
          <a:chOff x="0" y="0"/>
          <a:chExt cx="0" cy="0"/>
        </a:xfrm>
      </p:grpSpPr>
      <p:sp>
        <p:nvSpPr>
          <p:cNvPr name="Freeform 2" id="2"/>
          <p:cNvSpPr/>
          <p:nvPr/>
        </p:nvSpPr>
        <p:spPr>
          <a:xfrm flipH="false" flipV="true" rot="0">
            <a:off x="12464351" y="-1685644"/>
            <a:ext cx="6655681" cy="6413656"/>
          </a:xfrm>
          <a:custGeom>
            <a:avLst/>
            <a:gdLst/>
            <a:ahLst/>
            <a:cxnLst/>
            <a:rect r="r" b="b" t="t" l="l"/>
            <a:pathLst>
              <a:path h="6413656" w="6655681">
                <a:moveTo>
                  <a:pt x="0" y="6413656"/>
                </a:moveTo>
                <a:lnTo>
                  <a:pt x="6655681" y="6413656"/>
                </a:lnTo>
                <a:lnTo>
                  <a:pt x="6655681" y="0"/>
                </a:lnTo>
                <a:lnTo>
                  <a:pt x="0" y="0"/>
                </a:lnTo>
                <a:lnTo>
                  <a:pt x="0" y="6413656"/>
                </a:lnTo>
                <a:close/>
              </a:path>
            </a:pathLst>
          </a:custGeom>
          <a:blipFill>
            <a:blip r:embed="rId2">
              <a:alphaModFix amt="3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400000">
            <a:off x="-1612821" y="6234998"/>
            <a:ext cx="6655681" cy="6413656"/>
          </a:xfrm>
          <a:custGeom>
            <a:avLst/>
            <a:gdLst/>
            <a:ahLst/>
            <a:cxnLst/>
            <a:rect r="r" b="b" t="t" l="l"/>
            <a:pathLst>
              <a:path h="6413656" w="6655681">
                <a:moveTo>
                  <a:pt x="0" y="0"/>
                </a:moveTo>
                <a:lnTo>
                  <a:pt x="6655681" y="0"/>
                </a:lnTo>
                <a:lnTo>
                  <a:pt x="6655681" y="6413656"/>
                </a:lnTo>
                <a:lnTo>
                  <a:pt x="0" y="6413656"/>
                </a:lnTo>
                <a:lnTo>
                  <a:pt x="0" y="0"/>
                </a:lnTo>
                <a:close/>
              </a:path>
            </a:pathLst>
          </a:custGeom>
          <a:blipFill>
            <a:blip r:embed="rId2">
              <a:alphaModFix amt="3000"/>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1028700" y="2631388"/>
            <a:ext cx="5621602" cy="2713103"/>
            <a:chOff x="0" y="0"/>
            <a:chExt cx="870933" cy="420331"/>
          </a:xfrm>
        </p:grpSpPr>
        <p:sp>
          <p:nvSpPr>
            <p:cNvPr name="Freeform 5" id="5"/>
            <p:cNvSpPr/>
            <p:nvPr/>
          </p:nvSpPr>
          <p:spPr>
            <a:xfrm flipH="false" flipV="false" rot="0">
              <a:off x="0" y="0"/>
              <a:ext cx="870933" cy="420331"/>
            </a:xfrm>
            <a:custGeom>
              <a:avLst/>
              <a:gdLst/>
              <a:ahLst/>
              <a:cxnLst/>
              <a:rect r="r" b="b" t="t" l="l"/>
              <a:pathLst>
                <a:path h="420331" w="870933">
                  <a:moveTo>
                    <a:pt x="0" y="0"/>
                  </a:moveTo>
                  <a:lnTo>
                    <a:pt x="870933" y="0"/>
                  </a:lnTo>
                  <a:lnTo>
                    <a:pt x="870933" y="420331"/>
                  </a:lnTo>
                  <a:lnTo>
                    <a:pt x="0" y="420331"/>
                  </a:lnTo>
                  <a:close/>
                </a:path>
              </a:pathLst>
            </a:custGeom>
            <a:blipFill>
              <a:blip r:embed="rId4"/>
              <a:stretch>
                <a:fillRect l="0" t="-19130" r="0" b="-19130"/>
              </a:stretch>
            </a:blipFill>
          </p:spPr>
        </p:sp>
      </p:grpSp>
      <p:grpSp>
        <p:nvGrpSpPr>
          <p:cNvPr name="Group 6" id="6"/>
          <p:cNvGrpSpPr/>
          <p:nvPr/>
        </p:nvGrpSpPr>
        <p:grpSpPr>
          <a:xfrm rot="0">
            <a:off x="1028700" y="6729671"/>
            <a:ext cx="5621602" cy="1815992"/>
            <a:chOff x="0" y="0"/>
            <a:chExt cx="870933" cy="281345"/>
          </a:xfrm>
        </p:grpSpPr>
        <p:sp>
          <p:nvSpPr>
            <p:cNvPr name="Freeform 7" id="7"/>
            <p:cNvSpPr/>
            <p:nvPr/>
          </p:nvSpPr>
          <p:spPr>
            <a:xfrm flipH="false" flipV="false" rot="0">
              <a:off x="0" y="0"/>
              <a:ext cx="870933" cy="281345"/>
            </a:xfrm>
            <a:custGeom>
              <a:avLst/>
              <a:gdLst/>
              <a:ahLst/>
              <a:cxnLst/>
              <a:rect r="r" b="b" t="t" l="l"/>
              <a:pathLst>
                <a:path h="281345" w="870933">
                  <a:moveTo>
                    <a:pt x="0" y="0"/>
                  </a:moveTo>
                  <a:lnTo>
                    <a:pt x="870933" y="0"/>
                  </a:lnTo>
                  <a:lnTo>
                    <a:pt x="870933" y="281345"/>
                  </a:lnTo>
                  <a:lnTo>
                    <a:pt x="0" y="281345"/>
                  </a:lnTo>
                  <a:close/>
                </a:path>
              </a:pathLst>
            </a:custGeom>
            <a:blipFill>
              <a:blip r:embed="rId5"/>
              <a:stretch>
                <a:fillRect l="0" t="-52999" r="0" b="-52999"/>
              </a:stretch>
            </a:blipFill>
          </p:spPr>
        </p:sp>
      </p:grpSp>
      <p:sp>
        <p:nvSpPr>
          <p:cNvPr name="TextBox 8" id="8"/>
          <p:cNvSpPr txBox="true"/>
          <p:nvPr/>
        </p:nvSpPr>
        <p:spPr>
          <a:xfrm rot="0">
            <a:off x="1028700" y="385899"/>
            <a:ext cx="9808051" cy="1997140"/>
          </a:xfrm>
          <a:prstGeom prst="rect">
            <a:avLst/>
          </a:prstGeom>
        </p:spPr>
        <p:txBody>
          <a:bodyPr anchor="t" rtlCol="false" tIns="0" lIns="0" bIns="0" rIns="0">
            <a:spAutoFit/>
          </a:bodyPr>
          <a:lstStyle/>
          <a:p>
            <a:pPr algn="l">
              <a:lnSpc>
                <a:spcPts val="7600"/>
              </a:lnSpc>
            </a:pPr>
            <a:r>
              <a:rPr lang="en-US" sz="8000" b="true">
                <a:solidFill>
                  <a:srgbClr val="0B0027"/>
                </a:solidFill>
                <a:latin typeface="Pragmatica Bold"/>
                <a:ea typeface="Pragmatica Bold"/>
                <a:cs typeface="Pragmatica Bold"/>
                <a:sym typeface="Pragmatica Bold"/>
              </a:rPr>
              <a:t>DATASET YANG DIGUNAKAN</a:t>
            </a:r>
          </a:p>
        </p:txBody>
      </p:sp>
      <p:sp>
        <p:nvSpPr>
          <p:cNvPr name="TextBox 9" id="9"/>
          <p:cNvSpPr txBox="true"/>
          <p:nvPr/>
        </p:nvSpPr>
        <p:spPr>
          <a:xfrm rot="0">
            <a:off x="6846292" y="2393263"/>
            <a:ext cx="11236119" cy="3072049"/>
          </a:xfrm>
          <a:prstGeom prst="rect">
            <a:avLst/>
          </a:prstGeom>
        </p:spPr>
        <p:txBody>
          <a:bodyPr anchor="t" rtlCol="false" tIns="0" lIns="0" bIns="0" rIns="0">
            <a:spAutoFit/>
          </a:bodyPr>
          <a:lstStyle/>
          <a:p>
            <a:pPr algn="just">
              <a:lnSpc>
                <a:spcPts val="6241"/>
              </a:lnSpc>
            </a:pPr>
            <a:r>
              <a:rPr lang="en-US" sz="3120">
                <a:solidFill>
                  <a:srgbClr val="0B0027"/>
                </a:solidFill>
                <a:latin typeface="Open Sauce"/>
                <a:ea typeface="Open Sauce"/>
                <a:cs typeface="Open Sauce"/>
                <a:sym typeface="Open Sauce"/>
              </a:rPr>
              <a:t>Dataset yang digunakan merupakan data keaktifan pemuda Karang Taruna.</a:t>
            </a:r>
          </a:p>
          <a:p>
            <a:pPr algn="just">
              <a:lnSpc>
                <a:spcPts val="6241"/>
              </a:lnSpc>
            </a:pPr>
            <a:r>
              <a:rPr lang="en-US" sz="3120">
                <a:solidFill>
                  <a:srgbClr val="0B0027"/>
                </a:solidFill>
                <a:latin typeface="Open Sauce"/>
                <a:ea typeface="Open Sauce"/>
                <a:cs typeface="Open Sauce"/>
                <a:sym typeface="Open Sauce"/>
              </a:rPr>
              <a:t>Beberapa atribut yang digunakan:</a:t>
            </a:r>
          </a:p>
          <a:p>
            <a:pPr algn="just">
              <a:lnSpc>
                <a:spcPts val="6241"/>
              </a:lnSpc>
            </a:pPr>
          </a:p>
        </p:txBody>
      </p:sp>
      <p:sp>
        <p:nvSpPr>
          <p:cNvPr name="TextBox 10" id="10"/>
          <p:cNvSpPr txBox="true"/>
          <p:nvPr/>
        </p:nvSpPr>
        <p:spPr>
          <a:xfrm rot="0">
            <a:off x="6846292" y="4659443"/>
            <a:ext cx="4128613" cy="3988056"/>
          </a:xfrm>
          <a:prstGeom prst="rect">
            <a:avLst/>
          </a:prstGeom>
        </p:spPr>
        <p:txBody>
          <a:bodyPr anchor="t" rtlCol="false" tIns="0" lIns="0" bIns="0" rIns="0">
            <a:spAutoFit/>
          </a:bodyPr>
          <a:lstStyle/>
          <a:p>
            <a:pPr algn="just" marL="431799" indent="-215899" lvl="1">
              <a:lnSpc>
                <a:spcPts val="3999"/>
              </a:lnSpc>
              <a:buFont typeface="Arial"/>
              <a:buChar char="•"/>
            </a:pPr>
            <a:r>
              <a:rPr lang="en-US" sz="1999">
                <a:solidFill>
                  <a:srgbClr val="0B0027"/>
                </a:solidFill>
                <a:latin typeface="Open Sauce"/>
                <a:ea typeface="Open Sauce"/>
                <a:cs typeface="Open Sauce"/>
                <a:sym typeface="Open Sauce"/>
              </a:rPr>
              <a:t>Nama</a:t>
            </a:r>
          </a:p>
          <a:p>
            <a:pPr algn="just" marL="431799" indent="-215899" lvl="1">
              <a:lnSpc>
                <a:spcPts val="3999"/>
              </a:lnSpc>
              <a:buFont typeface="Arial"/>
              <a:buChar char="•"/>
            </a:pPr>
            <a:r>
              <a:rPr lang="en-US" sz="1999">
                <a:solidFill>
                  <a:srgbClr val="0B0027"/>
                </a:solidFill>
                <a:latin typeface="Open Sauce"/>
                <a:ea typeface="Open Sauce"/>
                <a:cs typeface="Open Sauce"/>
                <a:sym typeface="Open Sauce"/>
              </a:rPr>
              <a:t>Jenis Kelamin</a:t>
            </a:r>
          </a:p>
          <a:p>
            <a:pPr algn="just" marL="431799" indent="-215899" lvl="1">
              <a:lnSpc>
                <a:spcPts val="3999"/>
              </a:lnSpc>
              <a:buFont typeface="Arial"/>
              <a:buChar char="•"/>
            </a:pPr>
            <a:r>
              <a:rPr lang="en-US" sz="1999">
                <a:solidFill>
                  <a:srgbClr val="0B0027"/>
                </a:solidFill>
                <a:latin typeface="Open Sauce"/>
                <a:ea typeface="Open Sauce"/>
                <a:cs typeface="Open Sauce"/>
                <a:sym typeface="Open Sauce"/>
              </a:rPr>
              <a:t>Umur</a:t>
            </a:r>
          </a:p>
          <a:p>
            <a:pPr algn="just" marL="431799" indent="-215899" lvl="1">
              <a:lnSpc>
                <a:spcPts val="3999"/>
              </a:lnSpc>
              <a:buFont typeface="Arial"/>
              <a:buChar char="•"/>
            </a:pPr>
            <a:r>
              <a:rPr lang="en-US" sz="1999">
                <a:solidFill>
                  <a:srgbClr val="0B0027"/>
                </a:solidFill>
                <a:latin typeface="Open Sauce"/>
                <a:ea typeface="Open Sauce"/>
                <a:cs typeface="Open Sauce"/>
                <a:sym typeface="Open Sauce"/>
              </a:rPr>
              <a:t>Dusun</a:t>
            </a:r>
          </a:p>
          <a:p>
            <a:pPr algn="just" marL="431799" indent="-215899" lvl="1">
              <a:lnSpc>
                <a:spcPts val="3999"/>
              </a:lnSpc>
              <a:buFont typeface="Arial"/>
              <a:buChar char="•"/>
            </a:pPr>
            <a:r>
              <a:rPr lang="en-US" sz="1999">
                <a:solidFill>
                  <a:srgbClr val="0B0027"/>
                </a:solidFill>
                <a:latin typeface="Open Sauce"/>
                <a:ea typeface="Open Sauce"/>
                <a:cs typeface="Open Sauce"/>
                <a:sym typeface="Open Sauce"/>
              </a:rPr>
              <a:t>No HP</a:t>
            </a:r>
          </a:p>
          <a:p>
            <a:pPr algn="just" marL="431799" indent="-215899" lvl="1">
              <a:lnSpc>
                <a:spcPts val="3999"/>
              </a:lnSpc>
              <a:buFont typeface="Arial"/>
              <a:buChar char="•"/>
            </a:pPr>
            <a:r>
              <a:rPr lang="en-US" sz="1999">
                <a:solidFill>
                  <a:srgbClr val="0B0027"/>
                </a:solidFill>
                <a:latin typeface="Open Sauce"/>
                <a:ea typeface="Open Sauce"/>
                <a:cs typeface="Open Sauce"/>
                <a:sym typeface="Open Sauce"/>
              </a:rPr>
              <a:t>Kehadiran Kegiatan</a:t>
            </a:r>
          </a:p>
          <a:p>
            <a:pPr algn="just" marL="431799" indent="-215899" lvl="1">
              <a:lnSpc>
                <a:spcPts val="3999"/>
              </a:lnSpc>
              <a:buFont typeface="Arial"/>
              <a:buChar char="•"/>
            </a:pPr>
            <a:r>
              <a:rPr lang="en-US" sz="1999">
                <a:solidFill>
                  <a:srgbClr val="0B0027"/>
                </a:solidFill>
                <a:latin typeface="Open Sauce"/>
                <a:ea typeface="Open Sauce"/>
                <a:cs typeface="Open Sauce"/>
                <a:sym typeface="Open Sauce"/>
              </a:rPr>
              <a:t>Status Keaktifan</a:t>
            </a:r>
          </a:p>
          <a:p>
            <a:pPr algn="just">
              <a:lnSpc>
                <a:spcPts val="3999"/>
              </a:lnSpc>
            </a:pPr>
          </a:p>
        </p:txBody>
      </p:sp>
      <p:sp>
        <p:nvSpPr>
          <p:cNvPr name="TextBox 11" id="11"/>
          <p:cNvSpPr txBox="true"/>
          <p:nvPr/>
        </p:nvSpPr>
        <p:spPr>
          <a:xfrm rot="0">
            <a:off x="804964" y="8968358"/>
            <a:ext cx="16678072" cy="708812"/>
          </a:xfrm>
          <a:prstGeom prst="rect">
            <a:avLst/>
          </a:prstGeom>
        </p:spPr>
        <p:txBody>
          <a:bodyPr anchor="t" rtlCol="false" tIns="0" lIns="0" bIns="0" rIns="0">
            <a:spAutoFit/>
          </a:bodyPr>
          <a:lstStyle/>
          <a:p>
            <a:pPr algn="just">
              <a:lnSpc>
                <a:spcPts val="6241"/>
              </a:lnSpc>
            </a:pPr>
            <a:r>
              <a:rPr lang="en-US" sz="3120">
                <a:solidFill>
                  <a:srgbClr val="0B0027"/>
                </a:solidFill>
                <a:latin typeface="Open Sauce"/>
                <a:ea typeface="Open Sauce"/>
                <a:cs typeface="Open Sauce"/>
                <a:sym typeface="Open Sauce"/>
              </a:rPr>
              <a:t>Dataset awal masih memiliki beberapa data yang perlu dibersihkan dan diseragamkan.</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0F0F0"/>
        </a:solidFill>
      </p:bgPr>
    </p:bg>
    <p:spTree>
      <p:nvGrpSpPr>
        <p:cNvPr id="1" name=""/>
        <p:cNvGrpSpPr/>
        <p:nvPr/>
      </p:nvGrpSpPr>
      <p:grpSpPr>
        <a:xfrm>
          <a:off x="0" y="0"/>
          <a:ext cx="0" cy="0"/>
          <a:chOff x="0" y="0"/>
          <a:chExt cx="0" cy="0"/>
        </a:xfrm>
      </p:grpSpPr>
      <p:sp>
        <p:nvSpPr>
          <p:cNvPr name="Freeform 2" id="2"/>
          <p:cNvSpPr/>
          <p:nvPr/>
        </p:nvSpPr>
        <p:spPr>
          <a:xfrm flipH="false" flipV="true" rot="0">
            <a:off x="12464351" y="-1685644"/>
            <a:ext cx="6655681" cy="6413656"/>
          </a:xfrm>
          <a:custGeom>
            <a:avLst/>
            <a:gdLst/>
            <a:ahLst/>
            <a:cxnLst/>
            <a:rect r="r" b="b" t="t" l="l"/>
            <a:pathLst>
              <a:path h="6413656" w="6655681">
                <a:moveTo>
                  <a:pt x="0" y="6413656"/>
                </a:moveTo>
                <a:lnTo>
                  <a:pt x="6655681" y="6413656"/>
                </a:lnTo>
                <a:lnTo>
                  <a:pt x="6655681" y="0"/>
                </a:lnTo>
                <a:lnTo>
                  <a:pt x="0" y="0"/>
                </a:lnTo>
                <a:lnTo>
                  <a:pt x="0" y="6413656"/>
                </a:lnTo>
                <a:close/>
              </a:path>
            </a:pathLst>
          </a:custGeom>
          <a:blipFill>
            <a:blip r:embed="rId2">
              <a:alphaModFix amt="3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400000">
            <a:off x="-1612821" y="6234998"/>
            <a:ext cx="6655681" cy="6413656"/>
          </a:xfrm>
          <a:custGeom>
            <a:avLst/>
            <a:gdLst/>
            <a:ahLst/>
            <a:cxnLst/>
            <a:rect r="r" b="b" t="t" l="l"/>
            <a:pathLst>
              <a:path h="6413656" w="6655681">
                <a:moveTo>
                  <a:pt x="0" y="0"/>
                </a:moveTo>
                <a:lnTo>
                  <a:pt x="6655681" y="0"/>
                </a:lnTo>
                <a:lnTo>
                  <a:pt x="6655681" y="6413656"/>
                </a:lnTo>
                <a:lnTo>
                  <a:pt x="0" y="6413656"/>
                </a:lnTo>
                <a:lnTo>
                  <a:pt x="0" y="0"/>
                </a:lnTo>
                <a:close/>
              </a:path>
            </a:pathLst>
          </a:custGeom>
          <a:blipFill>
            <a:blip r:embed="rId2">
              <a:alphaModFix amt="3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181575" y="1456729"/>
            <a:ext cx="8773605" cy="7352184"/>
          </a:xfrm>
          <a:custGeom>
            <a:avLst/>
            <a:gdLst/>
            <a:ahLst/>
            <a:cxnLst/>
            <a:rect r="r" b="b" t="t" l="l"/>
            <a:pathLst>
              <a:path h="7352184" w="8773605">
                <a:moveTo>
                  <a:pt x="0" y="0"/>
                </a:moveTo>
                <a:lnTo>
                  <a:pt x="8773605" y="0"/>
                </a:lnTo>
                <a:lnTo>
                  <a:pt x="8773605" y="7352184"/>
                </a:lnTo>
                <a:lnTo>
                  <a:pt x="0" y="7352184"/>
                </a:lnTo>
                <a:lnTo>
                  <a:pt x="0" y="0"/>
                </a:lnTo>
                <a:close/>
              </a:path>
            </a:pathLst>
          </a:custGeom>
          <a:blipFill>
            <a:blip r:embed="rId4"/>
            <a:stretch>
              <a:fillRect l="0" t="0" r="0" b="-66884"/>
            </a:stretch>
          </a:blipFill>
        </p:spPr>
      </p:sp>
      <p:sp>
        <p:nvSpPr>
          <p:cNvPr name="Freeform 5" id="5"/>
          <p:cNvSpPr/>
          <p:nvPr/>
        </p:nvSpPr>
        <p:spPr>
          <a:xfrm flipH="false" flipV="false" rot="0">
            <a:off x="10339168" y="1521184"/>
            <a:ext cx="6920132" cy="5190099"/>
          </a:xfrm>
          <a:custGeom>
            <a:avLst/>
            <a:gdLst/>
            <a:ahLst/>
            <a:cxnLst/>
            <a:rect r="r" b="b" t="t" l="l"/>
            <a:pathLst>
              <a:path h="5190099" w="6920132">
                <a:moveTo>
                  <a:pt x="0" y="0"/>
                </a:moveTo>
                <a:lnTo>
                  <a:pt x="6920132" y="0"/>
                </a:lnTo>
                <a:lnTo>
                  <a:pt x="6920132" y="5190098"/>
                </a:lnTo>
                <a:lnTo>
                  <a:pt x="0" y="5190098"/>
                </a:lnTo>
                <a:lnTo>
                  <a:pt x="0" y="0"/>
                </a:lnTo>
                <a:close/>
              </a:path>
            </a:pathLst>
          </a:custGeom>
          <a:blipFill>
            <a:blip r:embed="rId5"/>
            <a:stretch>
              <a:fillRect l="0" t="0" r="0" b="0"/>
            </a:stretch>
          </a:blipFill>
        </p:spPr>
      </p:sp>
      <p:sp>
        <p:nvSpPr>
          <p:cNvPr name="TextBox 6" id="6"/>
          <p:cNvSpPr txBox="true"/>
          <p:nvPr/>
        </p:nvSpPr>
        <p:spPr>
          <a:xfrm rot="0">
            <a:off x="1028700" y="385899"/>
            <a:ext cx="10674314" cy="1035083"/>
          </a:xfrm>
          <a:prstGeom prst="rect">
            <a:avLst/>
          </a:prstGeom>
        </p:spPr>
        <p:txBody>
          <a:bodyPr anchor="t" rtlCol="false" tIns="0" lIns="0" bIns="0" rIns="0">
            <a:spAutoFit/>
          </a:bodyPr>
          <a:lstStyle/>
          <a:p>
            <a:pPr algn="l">
              <a:lnSpc>
                <a:spcPts val="7600"/>
              </a:lnSpc>
            </a:pPr>
            <a:r>
              <a:rPr lang="en-US" sz="8000" b="true">
                <a:solidFill>
                  <a:srgbClr val="0B0027"/>
                </a:solidFill>
                <a:latin typeface="Pragmatica Bold"/>
                <a:ea typeface="Pragmatica Bold"/>
                <a:cs typeface="Pragmatica Bold"/>
                <a:sym typeface="Pragmatica Bold"/>
              </a:rPr>
              <a:t>DESKRIPSI DATASET</a:t>
            </a:r>
          </a:p>
        </p:txBody>
      </p:sp>
      <p:sp>
        <p:nvSpPr>
          <p:cNvPr name="TextBox 7" id="7"/>
          <p:cNvSpPr txBox="true"/>
          <p:nvPr/>
        </p:nvSpPr>
        <p:spPr>
          <a:xfrm rot="0">
            <a:off x="12239544" y="6798055"/>
            <a:ext cx="3883004" cy="708812"/>
          </a:xfrm>
          <a:prstGeom prst="rect">
            <a:avLst/>
          </a:prstGeom>
        </p:spPr>
        <p:txBody>
          <a:bodyPr anchor="t" rtlCol="false" tIns="0" lIns="0" bIns="0" rIns="0">
            <a:spAutoFit/>
          </a:bodyPr>
          <a:lstStyle/>
          <a:p>
            <a:pPr algn="just">
              <a:lnSpc>
                <a:spcPts val="6241"/>
              </a:lnSpc>
            </a:pPr>
            <a:r>
              <a:rPr lang="en-US" sz="3120">
                <a:solidFill>
                  <a:srgbClr val="0B0027"/>
                </a:solidFill>
                <a:latin typeface="Open Sauce"/>
                <a:ea typeface="Open Sauce"/>
                <a:cs typeface="Open Sauce"/>
                <a:sym typeface="Open Sauce"/>
              </a:rPr>
              <a:t>Dokumentasi Kelas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0F0F0"/>
        </a:solidFill>
      </p:bgPr>
    </p:bg>
    <p:spTree>
      <p:nvGrpSpPr>
        <p:cNvPr id="1" name=""/>
        <p:cNvGrpSpPr/>
        <p:nvPr/>
      </p:nvGrpSpPr>
      <p:grpSpPr>
        <a:xfrm>
          <a:off x="0" y="0"/>
          <a:ext cx="0" cy="0"/>
          <a:chOff x="0" y="0"/>
          <a:chExt cx="0" cy="0"/>
        </a:xfrm>
      </p:grpSpPr>
      <p:sp>
        <p:nvSpPr>
          <p:cNvPr name="Freeform 2" id="2"/>
          <p:cNvSpPr/>
          <p:nvPr/>
        </p:nvSpPr>
        <p:spPr>
          <a:xfrm flipH="false" flipV="true" rot="0">
            <a:off x="12464351" y="-1685644"/>
            <a:ext cx="6655681" cy="6413656"/>
          </a:xfrm>
          <a:custGeom>
            <a:avLst/>
            <a:gdLst/>
            <a:ahLst/>
            <a:cxnLst/>
            <a:rect r="r" b="b" t="t" l="l"/>
            <a:pathLst>
              <a:path h="6413656" w="6655681">
                <a:moveTo>
                  <a:pt x="0" y="6413656"/>
                </a:moveTo>
                <a:lnTo>
                  <a:pt x="6655681" y="6413656"/>
                </a:lnTo>
                <a:lnTo>
                  <a:pt x="6655681" y="0"/>
                </a:lnTo>
                <a:lnTo>
                  <a:pt x="0" y="0"/>
                </a:lnTo>
                <a:lnTo>
                  <a:pt x="0" y="6413656"/>
                </a:lnTo>
                <a:close/>
              </a:path>
            </a:pathLst>
          </a:custGeom>
          <a:blipFill>
            <a:blip r:embed="rId2">
              <a:alphaModFix amt="3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400000">
            <a:off x="-1612821" y="6234998"/>
            <a:ext cx="6655681" cy="6413656"/>
          </a:xfrm>
          <a:custGeom>
            <a:avLst/>
            <a:gdLst/>
            <a:ahLst/>
            <a:cxnLst/>
            <a:rect r="r" b="b" t="t" l="l"/>
            <a:pathLst>
              <a:path h="6413656" w="6655681">
                <a:moveTo>
                  <a:pt x="0" y="0"/>
                </a:moveTo>
                <a:lnTo>
                  <a:pt x="6655681" y="0"/>
                </a:lnTo>
                <a:lnTo>
                  <a:pt x="6655681" y="6413656"/>
                </a:lnTo>
                <a:lnTo>
                  <a:pt x="0" y="6413656"/>
                </a:lnTo>
                <a:lnTo>
                  <a:pt x="0" y="0"/>
                </a:lnTo>
                <a:close/>
              </a:path>
            </a:pathLst>
          </a:custGeom>
          <a:blipFill>
            <a:blip r:embed="rId2">
              <a:alphaModFix amt="3000"/>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1028700" y="2012777"/>
            <a:ext cx="5146532" cy="3375112"/>
            <a:chOff x="0" y="0"/>
            <a:chExt cx="797333" cy="522893"/>
          </a:xfrm>
        </p:grpSpPr>
        <p:sp>
          <p:nvSpPr>
            <p:cNvPr name="Freeform 5" id="5"/>
            <p:cNvSpPr/>
            <p:nvPr/>
          </p:nvSpPr>
          <p:spPr>
            <a:xfrm flipH="false" flipV="false" rot="0">
              <a:off x="0" y="0"/>
              <a:ext cx="797333" cy="522893"/>
            </a:xfrm>
            <a:custGeom>
              <a:avLst/>
              <a:gdLst/>
              <a:ahLst/>
              <a:cxnLst/>
              <a:rect r="r" b="b" t="t" l="l"/>
              <a:pathLst>
                <a:path h="522893" w="797333">
                  <a:moveTo>
                    <a:pt x="0" y="0"/>
                  </a:moveTo>
                  <a:lnTo>
                    <a:pt x="797333" y="0"/>
                  </a:lnTo>
                  <a:lnTo>
                    <a:pt x="797333" y="522893"/>
                  </a:lnTo>
                  <a:lnTo>
                    <a:pt x="0" y="522893"/>
                  </a:lnTo>
                  <a:close/>
                </a:path>
              </a:pathLst>
            </a:custGeom>
            <a:blipFill>
              <a:blip r:embed="rId4"/>
              <a:stretch>
                <a:fillRect l="-8684" t="0" r="-8684" b="0"/>
              </a:stretch>
            </a:blipFill>
          </p:spPr>
        </p:sp>
      </p:grpSp>
      <p:grpSp>
        <p:nvGrpSpPr>
          <p:cNvPr name="Group 6" id="6"/>
          <p:cNvGrpSpPr/>
          <p:nvPr/>
        </p:nvGrpSpPr>
        <p:grpSpPr>
          <a:xfrm rot="0">
            <a:off x="1028700" y="5883188"/>
            <a:ext cx="5146532" cy="3375112"/>
            <a:chOff x="0" y="0"/>
            <a:chExt cx="797333" cy="522893"/>
          </a:xfrm>
        </p:grpSpPr>
        <p:sp>
          <p:nvSpPr>
            <p:cNvPr name="Freeform 7" id="7"/>
            <p:cNvSpPr/>
            <p:nvPr/>
          </p:nvSpPr>
          <p:spPr>
            <a:xfrm flipH="false" flipV="false" rot="0">
              <a:off x="0" y="0"/>
              <a:ext cx="797333" cy="522893"/>
            </a:xfrm>
            <a:custGeom>
              <a:avLst/>
              <a:gdLst/>
              <a:ahLst/>
              <a:cxnLst/>
              <a:rect r="r" b="b" t="t" l="l"/>
              <a:pathLst>
                <a:path h="522893" w="797333">
                  <a:moveTo>
                    <a:pt x="0" y="0"/>
                  </a:moveTo>
                  <a:lnTo>
                    <a:pt x="797333" y="0"/>
                  </a:lnTo>
                  <a:lnTo>
                    <a:pt x="797333" y="522893"/>
                  </a:lnTo>
                  <a:lnTo>
                    <a:pt x="0" y="522893"/>
                  </a:lnTo>
                  <a:close/>
                </a:path>
              </a:pathLst>
            </a:custGeom>
            <a:blipFill>
              <a:blip r:embed="rId5"/>
              <a:stretch>
                <a:fillRect l="0" t="-796" r="0" b="-796"/>
              </a:stretch>
            </a:blipFill>
          </p:spPr>
        </p:sp>
      </p:grpSp>
      <p:sp>
        <p:nvSpPr>
          <p:cNvPr name="TextBox 8" id="8"/>
          <p:cNvSpPr txBox="true"/>
          <p:nvPr/>
        </p:nvSpPr>
        <p:spPr>
          <a:xfrm rot="0">
            <a:off x="1028700" y="656026"/>
            <a:ext cx="14339752" cy="987396"/>
          </a:xfrm>
          <a:prstGeom prst="rect">
            <a:avLst/>
          </a:prstGeom>
        </p:spPr>
        <p:txBody>
          <a:bodyPr anchor="t" rtlCol="false" tIns="0" lIns="0" bIns="0" rIns="0">
            <a:spAutoFit/>
          </a:bodyPr>
          <a:lstStyle/>
          <a:p>
            <a:pPr algn="l">
              <a:lnSpc>
                <a:spcPts val="7315"/>
              </a:lnSpc>
            </a:pPr>
            <a:r>
              <a:rPr lang="en-US" sz="7700" b="true">
                <a:solidFill>
                  <a:srgbClr val="0B0027"/>
                </a:solidFill>
                <a:latin typeface="Pragmatica Bold"/>
                <a:ea typeface="Pragmatica Bold"/>
                <a:cs typeface="Pragmatica Bold"/>
                <a:sym typeface="Pragmatica Bold"/>
              </a:rPr>
              <a:t>PERMASALAHAN PADA DATA</a:t>
            </a:r>
          </a:p>
        </p:txBody>
      </p:sp>
      <p:sp>
        <p:nvSpPr>
          <p:cNvPr name="TextBox 9" id="9"/>
          <p:cNvSpPr txBox="true"/>
          <p:nvPr/>
        </p:nvSpPr>
        <p:spPr>
          <a:xfrm rot="0">
            <a:off x="6629985" y="1852873"/>
            <a:ext cx="12339174" cy="6725512"/>
          </a:xfrm>
          <a:prstGeom prst="rect">
            <a:avLst/>
          </a:prstGeom>
        </p:spPr>
        <p:txBody>
          <a:bodyPr anchor="t" rtlCol="false" tIns="0" lIns="0" bIns="0" rIns="0">
            <a:spAutoFit/>
          </a:bodyPr>
          <a:lstStyle/>
          <a:p>
            <a:pPr algn="l">
              <a:lnSpc>
                <a:spcPts val="5386"/>
              </a:lnSpc>
            </a:pPr>
            <a:r>
              <a:rPr lang="en-US" sz="2693">
                <a:solidFill>
                  <a:srgbClr val="0B0027"/>
                </a:solidFill>
                <a:latin typeface="Open Sauce"/>
                <a:ea typeface="Open Sauce"/>
                <a:cs typeface="Open Sauce"/>
                <a:sym typeface="Open Sauce"/>
              </a:rPr>
              <a:t>Beberapa permasalahan yang ditemukan:</a:t>
            </a:r>
          </a:p>
          <a:p>
            <a:pPr algn="l" marL="581524" indent="-290762" lvl="1">
              <a:lnSpc>
                <a:spcPts val="5386"/>
              </a:lnSpc>
              <a:buFont typeface="Arial"/>
              <a:buChar char="•"/>
            </a:pPr>
            <a:r>
              <a:rPr lang="en-US" sz="2693">
                <a:solidFill>
                  <a:srgbClr val="0B0027"/>
                </a:solidFill>
                <a:latin typeface="Open Sauce"/>
                <a:ea typeface="Open Sauce"/>
                <a:cs typeface="Open Sauce"/>
                <a:sym typeface="Open Sauce"/>
              </a:rPr>
              <a:t>Missing value pada beberapa kolom</a:t>
            </a:r>
          </a:p>
          <a:p>
            <a:pPr algn="l" marL="581524" indent="-290762" lvl="1">
              <a:lnSpc>
                <a:spcPts val="5386"/>
              </a:lnSpc>
              <a:buFont typeface="Arial"/>
              <a:buChar char="•"/>
            </a:pPr>
            <a:r>
              <a:rPr lang="en-US" sz="2693">
                <a:solidFill>
                  <a:srgbClr val="0B0027"/>
                </a:solidFill>
                <a:latin typeface="Open Sauce"/>
                <a:ea typeface="Open Sauce"/>
                <a:cs typeface="Open Sauce"/>
                <a:sym typeface="Open Sauce"/>
              </a:rPr>
              <a:t>Penulisan nama tidak konsisten</a:t>
            </a:r>
          </a:p>
          <a:p>
            <a:pPr algn="l" marL="581524" indent="-290762" lvl="1">
              <a:lnSpc>
                <a:spcPts val="5386"/>
              </a:lnSpc>
              <a:buFont typeface="Arial"/>
              <a:buChar char="•"/>
            </a:pPr>
            <a:r>
              <a:rPr lang="en-US" sz="2693">
                <a:solidFill>
                  <a:srgbClr val="0B0027"/>
                </a:solidFill>
                <a:latin typeface="Open Sauce"/>
                <a:ea typeface="Open Sauce"/>
                <a:cs typeface="Open Sauce"/>
                <a:sym typeface="Open Sauce"/>
              </a:rPr>
              <a:t>Jenis kelamin memiliki format berbeda, seperti L, Laki-laki, P, dan Perempuan</a:t>
            </a:r>
          </a:p>
          <a:p>
            <a:pPr algn="l" marL="581524" indent="-290762" lvl="1">
              <a:lnSpc>
                <a:spcPts val="5386"/>
              </a:lnSpc>
              <a:buFont typeface="Arial"/>
              <a:buChar char="•"/>
            </a:pPr>
            <a:r>
              <a:rPr lang="en-US" sz="2693">
                <a:solidFill>
                  <a:srgbClr val="0B0027"/>
                </a:solidFill>
                <a:latin typeface="Open Sauce"/>
                <a:ea typeface="Open Sauce"/>
                <a:cs typeface="Open Sauce"/>
                <a:sym typeface="Open Sauce"/>
              </a:rPr>
              <a:t>Penulisan dusun tidak seragam</a:t>
            </a:r>
          </a:p>
          <a:p>
            <a:pPr algn="l" marL="581524" indent="-290762" lvl="1">
              <a:lnSpc>
                <a:spcPts val="5386"/>
              </a:lnSpc>
              <a:buFont typeface="Arial"/>
              <a:buChar char="•"/>
            </a:pPr>
            <a:r>
              <a:rPr lang="en-US" sz="2693">
                <a:solidFill>
                  <a:srgbClr val="0B0027"/>
                </a:solidFill>
                <a:latin typeface="Open Sauce"/>
                <a:ea typeface="Open Sauce"/>
                <a:cs typeface="Open Sauce"/>
                <a:sym typeface="Open Sauce"/>
              </a:rPr>
              <a:t>Status keaktifan memiliki beberapa variasi penulisan</a:t>
            </a:r>
          </a:p>
          <a:p>
            <a:pPr algn="l" marL="581524" indent="-290762" lvl="1">
              <a:lnSpc>
                <a:spcPts val="5386"/>
              </a:lnSpc>
              <a:buFont typeface="Arial"/>
              <a:buChar char="•"/>
            </a:pPr>
            <a:r>
              <a:rPr lang="en-US" sz="2693">
                <a:solidFill>
                  <a:srgbClr val="0B0027"/>
                </a:solidFill>
                <a:latin typeface="Open Sauce"/>
                <a:ea typeface="Open Sauce"/>
                <a:cs typeface="Open Sauce"/>
                <a:sym typeface="Open Sauce"/>
              </a:rPr>
              <a:t>Format nomor HP berbeda-beda</a:t>
            </a:r>
          </a:p>
          <a:p>
            <a:pPr algn="l" marL="581524" indent="-290762" lvl="1">
              <a:lnSpc>
                <a:spcPts val="5386"/>
              </a:lnSpc>
              <a:buFont typeface="Arial"/>
              <a:buChar char="•"/>
            </a:pPr>
            <a:r>
              <a:rPr lang="en-US" sz="2693">
                <a:solidFill>
                  <a:srgbClr val="0B0027"/>
                </a:solidFill>
                <a:latin typeface="Open Sauce"/>
                <a:ea typeface="Open Sauce"/>
                <a:cs typeface="Open Sauce"/>
                <a:sym typeface="Open Sauce"/>
              </a:rPr>
              <a:t>Nilai kehadiran memiliki format desimal dan persentase</a:t>
            </a:r>
          </a:p>
          <a:p>
            <a:pPr algn="l" marL="581524" indent="-290762" lvl="1">
              <a:lnSpc>
                <a:spcPts val="5386"/>
              </a:lnSpc>
              <a:buFont typeface="Arial"/>
              <a:buChar char="•"/>
            </a:pPr>
            <a:r>
              <a:rPr lang="en-US" sz="2693">
                <a:solidFill>
                  <a:srgbClr val="0B0027"/>
                </a:solidFill>
                <a:latin typeface="Open Sauce"/>
                <a:ea typeface="Open Sauce"/>
                <a:cs typeface="Open Sauce"/>
                <a:sym typeface="Open Sauce"/>
              </a:rPr>
              <a:t>Terdapat nilai kehadiran yang tidak valid</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0F0F0"/>
        </a:solidFill>
      </p:bgPr>
    </p:bg>
    <p:spTree>
      <p:nvGrpSpPr>
        <p:cNvPr id="1" name=""/>
        <p:cNvGrpSpPr/>
        <p:nvPr/>
      </p:nvGrpSpPr>
      <p:grpSpPr>
        <a:xfrm>
          <a:off x="0" y="0"/>
          <a:ext cx="0" cy="0"/>
          <a:chOff x="0" y="0"/>
          <a:chExt cx="0" cy="0"/>
        </a:xfrm>
      </p:grpSpPr>
      <p:sp>
        <p:nvSpPr>
          <p:cNvPr name="Freeform 2" id="2"/>
          <p:cNvSpPr/>
          <p:nvPr/>
        </p:nvSpPr>
        <p:spPr>
          <a:xfrm flipH="false" flipV="true" rot="0">
            <a:off x="12464351" y="-1685644"/>
            <a:ext cx="6655681" cy="6413656"/>
          </a:xfrm>
          <a:custGeom>
            <a:avLst/>
            <a:gdLst/>
            <a:ahLst/>
            <a:cxnLst/>
            <a:rect r="r" b="b" t="t" l="l"/>
            <a:pathLst>
              <a:path h="6413656" w="6655681">
                <a:moveTo>
                  <a:pt x="0" y="6413656"/>
                </a:moveTo>
                <a:lnTo>
                  <a:pt x="6655681" y="6413656"/>
                </a:lnTo>
                <a:lnTo>
                  <a:pt x="6655681" y="0"/>
                </a:lnTo>
                <a:lnTo>
                  <a:pt x="0" y="0"/>
                </a:lnTo>
                <a:lnTo>
                  <a:pt x="0" y="6413656"/>
                </a:lnTo>
                <a:close/>
              </a:path>
            </a:pathLst>
          </a:custGeom>
          <a:blipFill>
            <a:blip r:embed="rId2">
              <a:alphaModFix amt="3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400000">
            <a:off x="-1612821" y="6234998"/>
            <a:ext cx="6655681" cy="6413656"/>
          </a:xfrm>
          <a:custGeom>
            <a:avLst/>
            <a:gdLst/>
            <a:ahLst/>
            <a:cxnLst/>
            <a:rect r="r" b="b" t="t" l="l"/>
            <a:pathLst>
              <a:path h="6413656" w="6655681">
                <a:moveTo>
                  <a:pt x="0" y="0"/>
                </a:moveTo>
                <a:lnTo>
                  <a:pt x="6655681" y="0"/>
                </a:lnTo>
                <a:lnTo>
                  <a:pt x="6655681" y="6413656"/>
                </a:lnTo>
                <a:lnTo>
                  <a:pt x="0" y="6413656"/>
                </a:lnTo>
                <a:lnTo>
                  <a:pt x="0" y="0"/>
                </a:lnTo>
                <a:close/>
              </a:path>
            </a:pathLst>
          </a:custGeom>
          <a:blipFill>
            <a:blip r:embed="rId2">
              <a:alphaModFix amt="3000"/>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514350" y="744046"/>
            <a:ext cx="17259300" cy="1239869"/>
          </a:xfrm>
          <a:prstGeom prst="rect">
            <a:avLst/>
          </a:prstGeom>
        </p:spPr>
        <p:txBody>
          <a:bodyPr anchor="t" rtlCol="false" tIns="0" lIns="0" bIns="0" rIns="0">
            <a:spAutoFit/>
          </a:bodyPr>
          <a:lstStyle/>
          <a:p>
            <a:pPr algn="l">
              <a:lnSpc>
                <a:spcPts val="9206"/>
              </a:lnSpc>
            </a:pPr>
            <a:r>
              <a:rPr lang="en-US" sz="9690" b="true">
                <a:solidFill>
                  <a:srgbClr val="0B0027"/>
                </a:solidFill>
                <a:latin typeface="Pragmatica Bold"/>
                <a:ea typeface="Pragmatica Bold"/>
                <a:cs typeface="Pragmatica Bold"/>
                <a:sym typeface="Pragmatica Bold"/>
              </a:rPr>
              <a:t>TAHAPAN DATA CLEANSING</a:t>
            </a:r>
          </a:p>
        </p:txBody>
      </p:sp>
      <p:sp>
        <p:nvSpPr>
          <p:cNvPr name="TextBox 5" id="5"/>
          <p:cNvSpPr txBox="true"/>
          <p:nvPr/>
        </p:nvSpPr>
        <p:spPr>
          <a:xfrm rot="0">
            <a:off x="784245" y="1928989"/>
            <a:ext cx="10032887" cy="8762885"/>
          </a:xfrm>
          <a:prstGeom prst="rect">
            <a:avLst/>
          </a:prstGeom>
        </p:spPr>
        <p:txBody>
          <a:bodyPr anchor="t" rtlCol="false" tIns="0" lIns="0" bIns="0" rIns="0">
            <a:spAutoFit/>
          </a:bodyPr>
          <a:lstStyle/>
          <a:p>
            <a:pPr algn="just" marL="687236" indent="-343618" lvl="1">
              <a:lnSpc>
                <a:spcPts val="6366"/>
              </a:lnSpc>
              <a:buFont typeface="Arial"/>
              <a:buChar char="•"/>
            </a:pPr>
            <a:r>
              <a:rPr lang="en-US" sz="3183">
                <a:solidFill>
                  <a:srgbClr val="0B0027"/>
                </a:solidFill>
                <a:latin typeface="Open Sauce"/>
                <a:ea typeface="Open Sauce"/>
                <a:cs typeface="Open Sauce"/>
                <a:sym typeface="Open Sauce"/>
              </a:rPr>
              <a:t>Membaca dataset dari file Excel</a:t>
            </a:r>
          </a:p>
          <a:p>
            <a:pPr algn="just" marL="687236" indent="-343618" lvl="1">
              <a:lnSpc>
                <a:spcPts val="6366"/>
              </a:lnSpc>
              <a:buFont typeface="Arial"/>
              <a:buChar char="•"/>
            </a:pPr>
            <a:r>
              <a:rPr lang="en-US" sz="3183">
                <a:solidFill>
                  <a:srgbClr val="0B0027"/>
                </a:solidFill>
                <a:latin typeface="Open Sauce"/>
                <a:ea typeface="Open Sauce"/>
                <a:cs typeface="Open Sauce"/>
                <a:sym typeface="Open Sauce"/>
              </a:rPr>
              <a:t>Mema</a:t>
            </a:r>
            <a:r>
              <a:rPr lang="en-US" sz="3183">
                <a:solidFill>
                  <a:srgbClr val="0B0027"/>
                </a:solidFill>
                <a:latin typeface="Open Sauce"/>
                <a:ea typeface="Open Sauce"/>
                <a:cs typeface="Open Sauce"/>
                <a:sym typeface="Open Sauce"/>
              </a:rPr>
              <a:t>hami struktur dan tipe data</a:t>
            </a:r>
          </a:p>
          <a:p>
            <a:pPr algn="just" marL="687236" indent="-343618" lvl="1">
              <a:lnSpc>
                <a:spcPts val="6366"/>
              </a:lnSpc>
              <a:buFont typeface="Arial"/>
              <a:buChar char="•"/>
            </a:pPr>
            <a:r>
              <a:rPr lang="en-US" sz="3183">
                <a:solidFill>
                  <a:srgbClr val="0B0027"/>
                </a:solidFill>
                <a:latin typeface="Open Sauce"/>
                <a:ea typeface="Open Sauce"/>
                <a:cs typeface="Open Sauce"/>
                <a:sym typeface="Open Sauce"/>
              </a:rPr>
              <a:t>Mengecek missing value</a:t>
            </a:r>
          </a:p>
          <a:p>
            <a:pPr algn="just" marL="687236" indent="-343618" lvl="1">
              <a:lnSpc>
                <a:spcPts val="6366"/>
              </a:lnSpc>
              <a:buFont typeface="Arial"/>
              <a:buChar char="•"/>
            </a:pPr>
            <a:r>
              <a:rPr lang="en-US" sz="3183">
                <a:solidFill>
                  <a:srgbClr val="0B0027"/>
                </a:solidFill>
                <a:latin typeface="Open Sauce"/>
                <a:ea typeface="Open Sauce"/>
                <a:cs typeface="Open Sauce"/>
                <a:sym typeface="Open Sauce"/>
              </a:rPr>
              <a:t>Mengecek data duplikat</a:t>
            </a:r>
          </a:p>
          <a:p>
            <a:pPr algn="just" marL="687236" indent="-343618" lvl="1">
              <a:lnSpc>
                <a:spcPts val="6366"/>
              </a:lnSpc>
              <a:buFont typeface="Arial"/>
              <a:buChar char="•"/>
            </a:pPr>
            <a:r>
              <a:rPr lang="en-US" sz="3183">
                <a:solidFill>
                  <a:srgbClr val="0B0027"/>
                </a:solidFill>
                <a:latin typeface="Open Sauce"/>
                <a:ea typeface="Open Sauce"/>
                <a:cs typeface="Open Sauce"/>
                <a:sym typeface="Open Sauce"/>
              </a:rPr>
              <a:t>Menyeragamkan data kategorikal</a:t>
            </a:r>
          </a:p>
          <a:p>
            <a:pPr algn="just" marL="687236" indent="-343618" lvl="1">
              <a:lnSpc>
                <a:spcPts val="6366"/>
              </a:lnSpc>
              <a:buFont typeface="Arial"/>
              <a:buChar char="•"/>
            </a:pPr>
            <a:r>
              <a:rPr lang="en-US" sz="3183">
                <a:solidFill>
                  <a:srgbClr val="0B0027"/>
                </a:solidFill>
                <a:latin typeface="Open Sauce"/>
                <a:ea typeface="Open Sauce"/>
                <a:cs typeface="Open Sauce"/>
                <a:sym typeface="Open Sauce"/>
              </a:rPr>
              <a:t>Membersihkan format nama</a:t>
            </a:r>
          </a:p>
          <a:p>
            <a:pPr algn="just" marL="687236" indent="-343618" lvl="1">
              <a:lnSpc>
                <a:spcPts val="6366"/>
              </a:lnSpc>
              <a:buFont typeface="Arial"/>
              <a:buChar char="•"/>
            </a:pPr>
            <a:r>
              <a:rPr lang="en-US" sz="3183">
                <a:solidFill>
                  <a:srgbClr val="0B0027"/>
                </a:solidFill>
                <a:latin typeface="Open Sauce"/>
                <a:ea typeface="Open Sauce"/>
                <a:cs typeface="Open Sauce"/>
                <a:sym typeface="Open Sauce"/>
              </a:rPr>
              <a:t>Menormalisasi nilai kehadiran</a:t>
            </a:r>
          </a:p>
          <a:p>
            <a:pPr algn="just" marL="687236" indent="-343618" lvl="1">
              <a:lnSpc>
                <a:spcPts val="6366"/>
              </a:lnSpc>
              <a:buFont typeface="Arial"/>
              <a:buChar char="•"/>
            </a:pPr>
            <a:r>
              <a:rPr lang="en-US" sz="3183">
                <a:solidFill>
                  <a:srgbClr val="0B0027"/>
                </a:solidFill>
                <a:latin typeface="Open Sauce"/>
                <a:ea typeface="Open Sauce"/>
                <a:cs typeface="Open Sauce"/>
                <a:sym typeface="Open Sauce"/>
              </a:rPr>
              <a:t>Membersihkan format nomor HP</a:t>
            </a:r>
          </a:p>
          <a:p>
            <a:pPr algn="just" marL="687236" indent="-343618" lvl="1">
              <a:lnSpc>
                <a:spcPts val="6366"/>
              </a:lnSpc>
              <a:buFont typeface="Arial"/>
              <a:buChar char="•"/>
            </a:pPr>
            <a:r>
              <a:rPr lang="en-US" sz="3183">
                <a:solidFill>
                  <a:srgbClr val="0B0027"/>
                </a:solidFill>
                <a:latin typeface="Open Sauce"/>
                <a:ea typeface="Open Sauce"/>
                <a:cs typeface="Open Sauce"/>
                <a:sym typeface="Open Sauce"/>
              </a:rPr>
              <a:t>Melakukan validasi data</a:t>
            </a:r>
          </a:p>
          <a:p>
            <a:pPr algn="just" marL="687236" indent="-343618" lvl="1">
              <a:lnSpc>
                <a:spcPts val="6366"/>
              </a:lnSpc>
              <a:buFont typeface="Arial"/>
              <a:buChar char="•"/>
            </a:pPr>
            <a:r>
              <a:rPr lang="en-US" sz="3183">
                <a:solidFill>
                  <a:srgbClr val="0B0027"/>
                </a:solidFill>
                <a:latin typeface="Open Sauce"/>
                <a:ea typeface="Open Sauce"/>
                <a:cs typeface="Open Sauce"/>
                <a:sym typeface="Open Sauce"/>
              </a:rPr>
              <a:t>Menyimpan dataset hasil cleansing</a:t>
            </a:r>
          </a:p>
          <a:p>
            <a:pPr algn="just">
              <a:lnSpc>
                <a:spcPts val="6366"/>
              </a:lnSpc>
            </a:pPr>
          </a:p>
        </p:txBody>
      </p:sp>
      <p:grpSp>
        <p:nvGrpSpPr>
          <p:cNvPr name="Group 6" id="6"/>
          <p:cNvGrpSpPr/>
          <p:nvPr/>
        </p:nvGrpSpPr>
        <p:grpSpPr>
          <a:xfrm rot="0">
            <a:off x="8576170" y="3821561"/>
            <a:ext cx="8955170" cy="2643878"/>
            <a:chOff x="0" y="0"/>
            <a:chExt cx="1387390" cy="409606"/>
          </a:xfrm>
        </p:grpSpPr>
        <p:sp>
          <p:nvSpPr>
            <p:cNvPr name="Freeform 7" id="7"/>
            <p:cNvSpPr/>
            <p:nvPr/>
          </p:nvSpPr>
          <p:spPr>
            <a:xfrm flipH="false" flipV="false" rot="0">
              <a:off x="0" y="0"/>
              <a:ext cx="1387390" cy="409606"/>
            </a:xfrm>
            <a:custGeom>
              <a:avLst/>
              <a:gdLst/>
              <a:ahLst/>
              <a:cxnLst/>
              <a:rect r="r" b="b" t="t" l="l"/>
              <a:pathLst>
                <a:path h="409606" w="1387390">
                  <a:moveTo>
                    <a:pt x="0" y="0"/>
                  </a:moveTo>
                  <a:lnTo>
                    <a:pt x="1387390" y="0"/>
                  </a:lnTo>
                  <a:lnTo>
                    <a:pt x="1387390" y="409606"/>
                  </a:lnTo>
                  <a:lnTo>
                    <a:pt x="0" y="409606"/>
                  </a:lnTo>
                  <a:close/>
                </a:path>
              </a:pathLst>
            </a:custGeom>
            <a:blipFill>
              <a:blip r:embed="rId4"/>
              <a:stretch>
                <a:fillRect l="0" t="-62833" r="0" b="-62833"/>
              </a:stretch>
            </a:blipFill>
          </p:spPr>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12464351" y="-1685644"/>
            <a:ext cx="6655681" cy="6413656"/>
          </a:xfrm>
          <a:custGeom>
            <a:avLst/>
            <a:gdLst/>
            <a:ahLst/>
            <a:cxnLst/>
            <a:rect r="r" b="b" t="t" l="l"/>
            <a:pathLst>
              <a:path h="6413656" w="6655681">
                <a:moveTo>
                  <a:pt x="0" y="6413656"/>
                </a:moveTo>
                <a:lnTo>
                  <a:pt x="6655681" y="6413656"/>
                </a:lnTo>
                <a:lnTo>
                  <a:pt x="6655681" y="0"/>
                </a:lnTo>
                <a:lnTo>
                  <a:pt x="0" y="0"/>
                </a:lnTo>
                <a:lnTo>
                  <a:pt x="0" y="6413656"/>
                </a:lnTo>
                <a:close/>
              </a:path>
            </a:pathLst>
          </a:custGeom>
          <a:blipFill>
            <a:blip r:embed="rId2">
              <a:alphaModFix amt="3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400000">
            <a:off x="-1612821" y="6234998"/>
            <a:ext cx="6655681" cy="6413656"/>
          </a:xfrm>
          <a:custGeom>
            <a:avLst/>
            <a:gdLst/>
            <a:ahLst/>
            <a:cxnLst/>
            <a:rect r="r" b="b" t="t" l="l"/>
            <a:pathLst>
              <a:path h="6413656" w="6655681">
                <a:moveTo>
                  <a:pt x="0" y="0"/>
                </a:moveTo>
                <a:lnTo>
                  <a:pt x="6655681" y="0"/>
                </a:lnTo>
                <a:lnTo>
                  <a:pt x="6655681" y="6413656"/>
                </a:lnTo>
                <a:lnTo>
                  <a:pt x="0" y="6413656"/>
                </a:lnTo>
                <a:lnTo>
                  <a:pt x="0" y="0"/>
                </a:lnTo>
                <a:close/>
              </a:path>
            </a:pathLst>
          </a:custGeom>
          <a:blipFill>
            <a:blip r:embed="rId2">
              <a:alphaModFix amt="3000"/>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599773" y="938156"/>
            <a:ext cx="17088454" cy="2258439"/>
          </a:xfrm>
          <a:prstGeom prst="rect">
            <a:avLst/>
          </a:prstGeom>
        </p:spPr>
        <p:txBody>
          <a:bodyPr anchor="t" rtlCol="false" tIns="0" lIns="0" bIns="0" rIns="0">
            <a:spAutoFit/>
          </a:bodyPr>
          <a:lstStyle/>
          <a:p>
            <a:pPr algn="l">
              <a:lnSpc>
                <a:spcPts val="8674"/>
              </a:lnSpc>
            </a:pPr>
            <a:r>
              <a:rPr lang="en-US" b="true" sz="9131" spc="-648">
                <a:solidFill>
                  <a:srgbClr val="0B0027"/>
                </a:solidFill>
                <a:latin typeface="Pragmatica Bold"/>
                <a:ea typeface="Pragmatica Bold"/>
                <a:cs typeface="Pragmatica Bold"/>
                <a:sym typeface="Pragmatica Bold"/>
              </a:rPr>
              <a:t>MPLEMENTASI MENGGUNAKAN PYTHON</a:t>
            </a:r>
          </a:p>
        </p:txBody>
      </p:sp>
      <p:sp>
        <p:nvSpPr>
          <p:cNvPr name="TextBox 5" id="5"/>
          <p:cNvSpPr txBox="true"/>
          <p:nvPr/>
        </p:nvSpPr>
        <p:spPr>
          <a:xfrm rot="0">
            <a:off x="599773" y="3225169"/>
            <a:ext cx="9018983" cy="4210163"/>
          </a:xfrm>
          <a:prstGeom prst="rect">
            <a:avLst/>
          </a:prstGeom>
        </p:spPr>
        <p:txBody>
          <a:bodyPr anchor="t" rtlCol="false" tIns="0" lIns="0" bIns="0" rIns="0">
            <a:spAutoFit/>
          </a:bodyPr>
          <a:lstStyle/>
          <a:p>
            <a:pPr algn="l">
              <a:lnSpc>
                <a:spcPts val="3311"/>
              </a:lnSpc>
            </a:pPr>
            <a:r>
              <a:rPr lang="en-US" sz="3037">
                <a:solidFill>
                  <a:srgbClr val="0B0027"/>
                </a:solidFill>
                <a:latin typeface="Open Sauce"/>
                <a:ea typeface="Open Sauce"/>
                <a:cs typeface="Open Sauce"/>
                <a:sym typeface="Open Sauce"/>
              </a:rPr>
              <a:t>Proses data cleansing dilakukan menggunakan:</a:t>
            </a:r>
          </a:p>
          <a:p>
            <a:pPr algn="l" marL="655895" indent="-327948" lvl="1">
              <a:lnSpc>
                <a:spcPts val="3311"/>
              </a:lnSpc>
              <a:buFont typeface="Arial"/>
              <a:buChar char="•"/>
            </a:pPr>
            <a:r>
              <a:rPr lang="en-US" sz="3037">
                <a:solidFill>
                  <a:srgbClr val="0B0027"/>
                </a:solidFill>
                <a:latin typeface="Open Sauce"/>
                <a:ea typeface="Open Sauce"/>
                <a:cs typeface="Open Sauce"/>
                <a:sym typeface="Open Sauce"/>
              </a:rPr>
              <a:t>Python sebagai bahasa pemrograman</a:t>
            </a:r>
          </a:p>
          <a:p>
            <a:pPr algn="l" marL="655895" indent="-327948" lvl="1">
              <a:lnSpc>
                <a:spcPts val="3311"/>
              </a:lnSpc>
              <a:buFont typeface="Arial"/>
              <a:buChar char="•"/>
            </a:pPr>
            <a:r>
              <a:rPr lang="en-US" sz="3037">
                <a:solidFill>
                  <a:srgbClr val="0B0027"/>
                </a:solidFill>
                <a:latin typeface="Open Sauce"/>
                <a:ea typeface="Open Sauce"/>
                <a:cs typeface="Open Sauce"/>
                <a:sym typeface="Open Sauce"/>
              </a:rPr>
              <a:t>Pandas untuk pengolahan dataset</a:t>
            </a:r>
          </a:p>
          <a:p>
            <a:pPr algn="l" marL="655895" indent="-327948" lvl="1">
              <a:lnSpc>
                <a:spcPts val="3311"/>
              </a:lnSpc>
              <a:buFont typeface="Arial"/>
              <a:buChar char="•"/>
            </a:pPr>
            <a:r>
              <a:rPr lang="en-US" sz="3037">
                <a:solidFill>
                  <a:srgbClr val="0B0027"/>
                </a:solidFill>
                <a:latin typeface="Open Sauce"/>
                <a:ea typeface="Open Sauce"/>
                <a:cs typeface="Open Sauce"/>
                <a:sym typeface="Open Sauce"/>
              </a:rPr>
              <a:t>NumPy untuk menangani nilai numerik dan missing value</a:t>
            </a:r>
          </a:p>
          <a:p>
            <a:pPr algn="l" marL="655895" indent="-327948" lvl="1">
              <a:lnSpc>
                <a:spcPts val="3311"/>
              </a:lnSpc>
              <a:buFont typeface="Arial"/>
              <a:buChar char="•"/>
            </a:pPr>
            <a:r>
              <a:rPr lang="en-US" sz="3037">
                <a:solidFill>
                  <a:srgbClr val="0B0027"/>
                </a:solidFill>
                <a:latin typeface="Open Sauce"/>
                <a:ea typeface="Open Sauce"/>
                <a:cs typeface="Open Sauce"/>
                <a:sym typeface="Open Sauce"/>
              </a:rPr>
              <a:t>Google Colab sebagai lingkungan pemrograman</a:t>
            </a:r>
          </a:p>
          <a:p>
            <a:pPr algn="l" marL="655895" indent="-327948" lvl="1">
              <a:lnSpc>
                <a:spcPts val="3311"/>
              </a:lnSpc>
              <a:buFont typeface="Arial"/>
              <a:buChar char="•"/>
            </a:pPr>
            <a:r>
              <a:rPr lang="en-US" sz="3037">
                <a:solidFill>
                  <a:srgbClr val="0B0027"/>
                </a:solidFill>
                <a:latin typeface="Open Sauce"/>
                <a:ea typeface="Open Sauce"/>
                <a:cs typeface="Open Sauce"/>
                <a:sym typeface="Open Sauce"/>
              </a:rPr>
              <a:t>Microsoft Excel sebagai sumber dan hasil dataset</a:t>
            </a:r>
          </a:p>
          <a:p>
            <a:pPr algn="ctr">
              <a:lnSpc>
                <a:spcPts val="3311"/>
              </a:lnSpc>
            </a:pPr>
          </a:p>
        </p:txBody>
      </p:sp>
      <p:sp>
        <p:nvSpPr>
          <p:cNvPr name="TextBox 6" id="6"/>
          <p:cNvSpPr txBox="true"/>
          <p:nvPr/>
        </p:nvSpPr>
        <p:spPr>
          <a:xfrm rot="0">
            <a:off x="9414273" y="6648282"/>
            <a:ext cx="7885243" cy="3370904"/>
          </a:xfrm>
          <a:prstGeom prst="rect">
            <a:avLst/>
          </a:prstGeom>
        </p:spPr>
        <p:txBody>
          <a:bodyPr anchor="t" rtlCol="false" tIns="0" lIns="0" bIns="0" rIns="0">
            <a:spAutoFit/>
          </a:bodyPr>
          <a:lstStyle/>
          <a:p>
            <a:pPr algn="l">
              <a:lnSpc>
                <a:spcPts val="3311"/>
              </a:lnSpc>
            </a:pPr>
            <a:r>
              <a:rPr lang="en-US" sz="3037">
                <a:solidFill>
                  <a:srgbClr val="0B0027"/>
                </a:solidFill>
                <a:latin typeface="Open Sauce"/>
                <a:ea typeface="Open Sauce"/>
                <a:cs typeface="Open Sauce"/>
                <a:sym typeface="Open Sauce"/>
              </a:rPr>
              <a:t>Contoh proses:</a:t>
            </a:r>
          </a:p>
          <a:p>
            <a:pPr algn="l" marL="655895" indent="-327948" lvl="1">
              <a:lnSpc>
                <a:spcPts val="3311"/>
              </a:lnSpc>
              <a:buFont typeface="Arial"/>
              <a:buChar char="•"/>
            </a:pPr>
            <a:r>
              <a:rPr lang="en-US" sz="3037">
                <a:solidFill>
                  <a:srgbClr val="0B0027"/>
                </a:solidFill>
                <a:latin typeface="Open Sauce"/>
                <a:ea typeface="Open Sauce"/>
                <a:cs typeface="Open Sauce"/>
                <a:sym typeface="Open Sauce"/>
              </a:rPr>
              <a:t>Mengubah L → Laki-laki</a:t>
            </a:r>
          </a:p>
          <a:p>
            <a:pPr algn="l" marL="655895" indent="-327948" lvl="1">
              <a:lnSpc>
                <a:spcPts val="3311"/>
              </a:lnSpc>
              <a:buFont typeface="Arial"/>
              <a:buChar char="•"/>
            </a:pPr>
            <a:r>
              <a:rPr lang="en-US" sz="3037">
                <a:solidFill>
                  <a:srgbClr val="0B0027"/>
                </a:solidFill>
                <a:latin typeface="Open Sauce"/>
                <a:ea typeface="Open Sauce"/>
                <a:cs typeface="Open Sauce"/>
                <a:sym typeface="Open Sauce"/>
              </a:rPr>
              <a:t>Mengubah P → Perempuan</a:t>
            </a:r>
          </a:p>
          <a:p>
            <a:pPr algn="l" marL="655895" indent="-327948" lvl="1">
              <a:lnSpc>
                <a:spcPts val="3311"/>
              </a:lnSpc>
              <a:buFont typeface="Arial"/>
              <a:buChar char="•"/>
            </a:pPr>
            <a:r>
              <a:rPr lang="en-US" sz="3037">
                <a:solidFill>
                  <a:srgbClr val="0B0027"/>
                </a:solidFill>
                <a:latin typeface="Open Sauce"/>
                <a:ea typeface="Open Sauce"/>
                <a:cs typeface="Open Sauce"/>
                <a:sym typeface="Open Sauce"/>
              </a:rPr>
              <a:t>Me</a:t>
            </a:r>
            <a:r>
              <a:rPr lang="en-US" sz="3037">
                <a:solidFill>
                  <a:srgbClr val="0B0027"/>
                </a:solidFill>
                <a:latin typeface="Open Sauce"/>
                <a:ea typeface="Open Sauce"/>
                <a:cs typeface="Open Sauce"/>
                <a:sym typeface="Open Sauce"/>
              </a:rPr>
              <a:t>nyeragamkan penulisan nama</a:t>
            </a:r>
          </a:p>
          <a:p>
            <a:pPr algn="l" marL="655895" indent="-327948" lvl="1">
              <a:lnSpc>
                <a:spcPts val="3311"/>
              </a:lnSpc>
              <a:buFont typeface="Arial"/>
              <a:buChar char="•"/>
            </a:pPr>
            <a:r>
              <a:rPr lang="en-US" sz="3037">
                <a:solidFill>
                  <a:srgbClr val="0B0027"/>
                </a:solidFill>
                <a:latin typeface="Open Sauce"/>
                <a:ea typeface="Open Sauce"/>
                <a:cs typeface="Open Sauce"/>
                <a:sym typeface="Open Sauce"/>
              </a:rPr>
              <a:t>M</a:t>
            </a:r>
            <a:r>
              <a:rPr lang="en-US" sz="3037">
                <a:solidFill>
                  <a:srgbClr val="0B0027"/>
                </a:solidFill>
                <a:latin typeface="Open Sauce"/>
                <a:ea typeface="Open Sauce"/>
                <a:cs typeface="Open Sauce"/>
                <a:sym typeface="Open Sauce"/>
              </a:rPr>
              <a:t>engubah nilai 0.90 → 90%</a:t>
            </a:r>
          </a:p>
          <a:p>
            <a:pPr algn="l" marL="655895" indent="-327948" lvl="1">
              <a:lnSpc>
                <a:spcPts val="3311"/>
              </a:lnSpc>
              <a:buFont typeface="Arial"/>
              <a:buChar char="•"/>
            </a:pPr>
            <a:r>
              <a:rPr lang="en-US" sz="3037">
                <a:solidFill>
                  <a:srgbClr val="0B0027"/>
                </a:solidFill>
                <a:latin typeface="Open Sauce"/>
                <a:ea typeface="Open Sauce"/>
                <a:cs typeface="Open Sauce"/>
                <a:sym typeface="Open Sauce"/>
              </a:rPr>
              <a:t>Membersihkan spasi dan simbol pada nomor HP</a:t>
            </a:r>
          </a:p>
          <a:p>
            <a:pPr algn="ctr">
              <a:lnSpc>
                <a:spcPts val="3311"/>
              </a:lnSpc>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0F0F0"/>
        </a:solidFill>
      </p:bgPr>
    </p:bg>
    <p:spTree>
      <p:nvGrpSpPr>
        <p:cNvPr id="1" name=""/>
        <p:cNvGrpSpPr/>
        <p:nvPr/>
      </p:nvGrpSpPr>
      <p:grpSpPr>
        <a:xfrm>
          <a:off x="0" y="0"/>
          <a:ext cx="0" cy="0"/>
          <a:chOff x="0" y="0"/>
          <a:chExt cx="0" cy="0"/>
        </a:xfrm>
      </p:grpSpPr>
      <p:sp>
        <p:nvSpPr>
          <p:cNvPr name="Freeform 2" id="2"/>
          <p:cNvSpPr/>
          <p:nvPr/>
        </p:nvSpPr>
        <p:spPr>
          <a:xfrm flipH="false" flipV="true" rot="0">
            <a:off x="12464351" y="-1685644"/>
            <a:ext cx="6655681" cy="6413656"/>
          </a:xfrm>
          <a:custGeom>
            <a:avLst/>
            <a:gdLst/>
            <a:ahLst/>
            <a:cxnLst/>
            <a:rect r="r" b="b" t="t" l="l"/>
            <a:pathLst>
              <a:path h="6413656" w="6655681">
                <a:moveTo>
                  <a:pt x="0" y="6413656"/>
                </a:moveTo>
                <a:lnTo>
                  <a:pt x="6655681" y="6413656"/>
                </a:lnTo>
                <a:lnTo>
                  <a:pt x="6655681" y="0"/>
                </a:lnTo>
                <a:lnTo>
                  <a:pt x="0" y="0"/>
                </a:lnTo>
                <a:lnTo>
                  <a:pt x="0" y="6413656"/>
                </a:lnTo>
                <a:close/>
              </a:path>
            </a:pathLst>
          </a:custGeom>
          <a:blipFill>
            <a:blip r:embed="rId2">
              <a:alphaModFix amt="3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400000">
            <a:off x="-1612821" y="6234998"/>
            <a:ext cx="6655681" cy="6413656"/>
          </a:xfrm>
          <a:custGeom>
            <a:avLst/>
            <a:gdLst/>
            <a:ahLst/>
            <a:cxnLst/>
            <a:rect r="r" b="b" t="t" l="l"/>
            <a:pathLst>
              <a:path h="6413656" w="6655681">
                <a:moveTo>
                  <a:pt x="0" y="0"/>
                </a:moveTo>
                <a:lnTo>
                  <a:pt x="6655681" y="0"/>
                </a:lnTo>
                <a:lnTo>
                  <a:pt x="6655681" y="6413656"/>
                </a:lnTo>
                <a:lnTo>
                  <a:pt x="0" y="6413656"/>
                </a:lnTo>
                <a:lnTo>
                  <a:pt x="0" y="0"/>
                </a:lnTo>
                <a:close/>
              </a:path>
            </a:pathLst>
          </a:custGeom>
          <a:blipFill>
            <a:blip r:embed="rId2">
              <a:alphaModFix amt="3000"/>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3700920" y="676275"/>
            <a:ext cx="10886160" cy="876300"/>
          </a:xfrm>
          <a:prstGeom prst="rect">
            <a:avLst/>
          </a:prstGeom>
        </p:spPr>
        <p:txBody>
          <a:bodyPr anchor="t" rtlCol="false" tIns="0" lIns="0" bIns="0" rIns="0">
            <a:spAutoFit/>
          </a:bodyPr>
          <a:lstStyle/>
          <a:p>
            <a:pPr algn="l">
              <a:lnSpc>
                <a:spcPts val="6554"/>
              </a:lnSpc>
            </a:pPr>
            <a:r>
              <a:rPr lang="en-US" sz="6899" b="true">
                <a:solidFill>
                  <a:srgbClr val="0B0027"/>
                </a:solidFill>
                <a:latin typeface="Pragmatica Bold"/>
                <a:ea typeface="Pragmatica Bold"/>
                <a:cs typeface="Pragmatica Bold"/>
                <a:sym typeface="Pragmatica Bold"/>
              </a:rPr>
              <a:t>HASIL DATA CLEANSING</a:t>
            </a:r>
          </a:p>
        </p:txBody>
      </p:sp>
      <p:sp>
        <p:nvSpPr>
          <p:cNvPr name="TextBox 5" id="5"/>
          <p:cNvSpPr txBox="true"/>
          <p:nvPr/>
        </p:nvSpPr>
        <p:spPr>
          <a:xfrm rot="0">
            <a:off x="1258235" y="1493573"/>
            <a:ext cx="15771531" cy="8410553"/>
          </a:xfrm>
          <a:prstGeom prst="rect">
            <a:avLst/>
          </a:prstGeom>
        </p:spPr>
        <p:txBody>
          <a:bodyPr anchor="t" rtlCol="false" tIns="0" lIns="0" bIns="0" rIns="0">
            <a:spAutoFit/>
          </a:bodyPr>
          <a:lstStyle/>
          <a:p>
            <a:pPr algn="just">
              <a:lnSpc>
                <a:spcPts val="7487"/>
              </a:lnSpc>
            </a:pPr>
            <a:r>
              <a:rPr lang="en-US" sz="3743">
                <a:solidFill>
                  <a:srgbClr val="0B0027"/>
                </a:solidFill>
                <a:latin typeface="Open Sauce"/>
                <a:ea typeface="Open Sauce"/>
                <a:cs typeface="Open Sauce"/>
                <a:sym typeface="Open Sauce"/>
              </a:rPr>
              <a:t>Setelah dilakukan proses cleansing:</a:t>
            </a:r>
          </a:p>
          <a:p>
            <a:pPr algn="just" marL="808264" indent="-404132" lvl="1">
              <a:lnSpc>
                <a:spcPts val="7487"/>
              </a:lnSpc>
              <a:buFont typeface="Arial"/>
              <a:buChar char="•"/>
            </a:pPr>
            <a:r>
              <a:rPr lang="en-US" sz="3743">
                <a:solidFill>
                  <a:srgbClr val="0B0027"/>
                </a:solidFill>
                <a:latin typeface="Open Sauce"/>
                <a:ea typeface="Open Sauce"/>
                <a:cs typeface="Open Sauce"/>
                <a:sym typeface="Open Sauce"/>
              </a:rPr>
              <a:t>Format data menjadi lebih seragam</a:t>
            </a:r>
          </a:p>
          <a:p>
            <a:pPr algn="just" marL="808264" indent="-404132" lvl="1">
              <a:lnSpc>
                <a:spcPts val="7487"/>
              </a:lnSpc>
              <a:buFont typeface="Arial"/>
              <a:buChar char="•"/>
            </a:pPr>
            <a:r>
              <a:rPr lang="en-US" sz="3743">
                <a:solidFill>
                  <a:srgbClr val="0B0027"/>
                </a:solidFill>
                <a:latin typeface="Open Sauce"/>
                <a:ea typeface="Open Sauce"/>
                <a:cs typeface="Open Sauce"/>
                <a:sym typeface="Open Sauce"/>
              </a:rPr>
              <a:t>Data kategorikal memiliki penulisan yang konsisten</a:t>
            </a:r>
          </a:p>
          <a:p>
            <a:pPr algn="just" marL="808264" indent="-404132" lvl="1">
              <a:lnSpc>
                <a:spcPts val="7487"/>
              </a:lnSpc>
              <a:buFont typeface="Arial"/>
              <a:buChar char="•"/>
            </a:pPr>
            <a:r>
              <a:rPr lang="en-US" sz="3743">
                <a:solidFill>
                  <a:srgbClr val="0B0027"/>
                </a:solidFill>
                <a:latin typeface="Open Sauce"/>
                <a:ea typeface="Open Sauce"/>
                <a:cs typeface="Open Sauce"/>
                <a:sym typeface="Open Sauce"/>
              </a:rPr>
              <a:t>Nilai kehadiran memiliki format yang sama</a:t>
            </a:r>
          </a:p>
          <a:p>
            <a:pPr algn="just" marL="808264" indent="-404132" lvl="1">
              <a:lnSpc>
                <a:spcPts val="7487"/>
              </a:lnSpc>
              <a:buFont typeface="Arial"/>
              <a:buChar char="•"/>
            </a:pPr>
            <a:r>
              <a:rPr lang="en-US" sz="3743">
                <a:solidFill>
                  <a:srgbClr val="0B0027"/>
                </a:solidFill>
                <a:latin typeface="Open Sauce"/>
                <a:ea typeface="Open Sauce"/>
                <a:cs typeface="Open Sauce"/>
                <a:sym typeface="Open Sauce"/>
              </a:rPr>
              <a:t>Format nomor HP diperbaiki</a:t>
            </a:r>
          </a:p>
          <a:p>
            <a:pPr algn="just" marL="808264" indent="-404132" lvl="1">
              <a:lnSpc>
                <a:spcPts val="7487"/>
              </a:lnSpc>
              <a:buFont typeface="Arial"/>
              <a:buChar char="•"/>
            </a:pPr>
            <a:r>
              <a:rPr lang="en-US" sz="3743">
                <a:solidFill>
                  <a:srgbClr val="0B0027"/>
                </a:solidFill>
                <a:latin typeface="Open Sauce"/>
                <a:ea typeface="Open Sauce"/>
                <a:cs typeface="Open Sauce"/>
                <a:sym typeface="Open Sauce"/>
              </a:rPr>
              <a:t>Missing value ditangani</a:t>
            </a:r>
          </a:p>
          <a:p>
            <a:pPr algn="just" marL="808264" indent="-404132" lvl="1">
              <a:lnSpc>
                <a:spcPts val="7487"/>
              </a:lnSpc>
              <a:buFont typeface="Arial"/>
              <a:buChar char="•"/>
            </a:pPr>
            <a:r>
              <a:rPr lang="en-US" sz="3743">
                <a:solidFill>
                  <a:srgbClr val="0B0027"/>
                </a:solidFill>
                <a:latin typeface="Open Sauce"/>
                <a:ea typeface="Open Sauce"/>
                <a:cs typeface="Open Sauce"/>
                <a:sym typeface="Open Sauce"/>
              </a:rPr>
              <a:t>Data yang tidak valid dapat diidentifikasi</a:t>
            </a:r>
          </a:p>
          <a:p>
            <a:pPr algn="just" marL="808264" indent="-404132" lvl="1">
              <a:lnSpc>
                <a:spcPts val="7487"/>
              </a:lnSpc>
              <a:buFont typeface="Arial"/>
              <a:buChar char="•"/>
            </a:pPr>
            <a:r>
              <a:rPr lang="en-US" sz="3743">
                <a:solidFill>
                  <a:srgbClr val="0B0027"/>
                </a:solidFill>
                <a:latin typeface="Open Sauce"/>
                <a:ea typeface="Open Sauce"/>
                <a:cs typeface="Open Sauce"/>
                <a:sym typeface="Open Sauce"/>
              </a:rPr>
              <a:t>Dataset menjadi lebih siap untuk tahap analisis atau Data Mining</a:t>
            </a:r>
          </a:p>
          <a:p>
            <a:pPr algn="just">
              <a:lnSpc>
                <a:spcPts val="7487"/>
              </a:lnSpc>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12464351" y="-1685644"/>
            <a:ext cx="6655681" cy="6413656"/>
          </a:xfrm>
          <a:custGeom>
            <a:avLst/>
            <a:gdLst/>
            <a:ahLst/>
            <a:cxnLst/>
            <a:rect r="r" b="b" t="t" l="l"/>
            <a:pathLst>
              <a:path h="6413656" w="6655681">
                <a:moveTo>
                  <a:pt x="0" y="6413656"/>
                </a:moveTo>
                <a:lnTo>
                  <a:pt x="6655681" y="6413656"/>
                </a:lnTo>
                <a:lnTo>
                  <a:pt x="6655681" y="0"/>
                </a:lnTo>
                <a:lnTo>
                  <a:pt x="0" y="0"/>
                </a:lnTo>
                <a:lnTo>
                  <a:pt x="0" y="6413656"/>
                </a:lnTo>
                <a:close/>
              </a:path>
            </a:pathLst>
          </a:custGeom>
          <a:blipFill>
            <a:blip r:embed="rId2">
              <a:alphaModFix amt="3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400000">
            <a:off x="-1612821" y="6234998"/>
            <a:ext cx="6655681" cy="6413656"/>
          </a:xfrm>
          <a:custGeom>
            <a:avLst/>
            <a:gdLst/>
            <a:ahLst/>
            <a:cxnLst/>
            <a:rect r="r" b="b" t="t" l="l"/>
            <a:pathLst>
              <a:path h="6413656" w="6655681">
                <a:moveTo>
                  <a:pt x="0" y="0"/>
                </a:moveTo>
                <a:lnTo>
                  <a:pt x="6655681" y="0"/>
                </a:lnTo>
                <a:lnTo>
                  <a:pt x="6655681" y="6413656"/>
                </a:lnTo>
                <a:lnTo>
                  <a:pt x="0" y="6413656"/>
                </a:lnTo>
                <a:lnTo>
                  <a:pt x="0" y="0"/>
                </a:lnTo>
                <a:close/>
              </a:path>
            </a:pathLst>
          </a:custGeom>
          <a:blipFill>
            <a:blip r:embed="rId2">
              <a:alphaModFix amt="3000"/>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4831618" y="1257300"/>
            <a:ext cx="8435999" cy="1228693"/>
          </a:xfrm>
          <a:prstGeom prst="rect">
            <a:avLst/>
          </a:prstGeom>
        </p:spPr>
        <p:txBody>
          <a:bodyPr anchor="t" rtlCol="false" tIns="0" lIns="0" bIns="0" rIns="0">
            <a:spAutoFit/>
          </a:bodyPr>
          <a:lstStyle/>
          <a:p>
            <a:pPr algn="l">
              <a:lnSpc>
                <a:spcPts val="9119"/>
              </a:lnSpc>
            </a:pPr>
            <a:r>
              <a:rPr lang="en-US" sz="9600" b="true">
                <a:solidFill>
                  <a:srgbClr val="0B0027"/>
                </a:solidFill>
                <a:latin typeface="Pragmatica Bold"/>
                <a:ea typeface="Pragmatica Bold"/>
                <a:cs typeface="Pragmatica Bold"/>
                <a:sym typeface="Pragmatica Bold"/>
              </a:rPr>
              <a:t>KESIMPULAN</a:t>
            </a:r>
          </a:p>
        </p:txBody>
      </p:sp>
      <p:sp>
        <p:nvSpPr>
          <p:cNvPr name="TextBox 5" id="5"/>
          <p:cNvSpPr txBox="true"/>
          <p:nvPr/>
        </p:nvSpPr>
        <p:spPr>
          <a:xfrm rot="0">
            <a:off x="1123082" y="3163858"/>
            <a:ext cx="16041835" cy="4837176"/>
          </a:xfrm>
          <a:prstGeom prst="rect">
            <a:avLst/>
          </a:prstGeom>
        </p:spPr>
        <p:txBody>
          <a:bodyPr anchor="t" rtlCol="false" tIns="0" lIns="0" bIns="0" rIns="0">
            <a:spAutoFit/>
          </a:bodyPr>
          <a:lstStyle/>
          <a:p>
            <a:pPr algn="just">
              <a:lnSpc>
                <a:spcPts val="4220"/>
              </a:lnSpc>
            </a:pPr>
            <a:r>
              <a:rPr lang="en-US" sz="4442" b="true">
                <a:solidFill>
                  <a:srgbClr val="0B0027"/>
                </a:solidFill>
                <a:latin typeface="Pragmatica Bold"/>
                <a:ea typeface="Pragmatica Bold"/>
                <a:cs typeface="Pragmatica Bold"/>
                <a:sym typeface="Pragmatica Bold"/>
              </a:rPr>
              <a:t>Data cleansing merupakan tahap penting dalam proses Data Mining. Melalui project ini, dataset keaktifan pemuda Karang Taruna yang sebelumnya memiliki berbagai permasalahan dapat dibersihkan dan diseragamkan menggunakan Python, Pandas, dan NumPy. Hasil dari proses cleansing berupa dataset yang lebih bersih, konsisten, dan siap digunakan untuk proses analisis selanjutnya.</a:t>
            </a:r>
          </a:p>
          <a:p>
            <a:pPr algn="l">
              <a:lnSpc>
                <a:spcPts val="4220"/>
              </a:lnSpc>
            </a:pP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0F0F0"/>
        </a:solidFill>
      </p:bgPr>
    </p:bg>
    <p:spTree>
      <p:nvGrpSpPr>
        <p:cNvPr id="1" name=""/>
        <p:cNvGrpSpPr/>
        <p:nvPr/>
      </p:nvGrpSpPr>
      <p:grpSpPr>
        <a:xfrm>
          <a:off x="0" y="0"/>
          <a:ext cx="0" cy="0"/>
          <a:chOff x="0" y="0"/>
          <a:chExt cx="0" cy="0"/>
        </a:xfrm>
      </p:grpSpPr>
      <p:sp>
        <p:nvSpPr>
          <p:cNvPr name="Freeform 2" id="2"/>
          <p:cNvSpPr/>
          <p:nvPr/>
        </p:nvSpPr>
        <p:spPr>
          <a:xfrm flipH="false" flipV="false" rot="0">
            <a:off x="13002148" y="5371640"/>
            <a:ext cx="6655681" cy="6413656"/>
          </a:xfrm>
          <a:custGeom>
            <a:avLst/>
            <a:gdLst/>
            <a:ahLst/>
            <a:cxnLst/>
            <a:rect r="r" b="b" t="t" l="l"/>
            <a:pathLst>
              <a:path h="6413656" w="6655681">
                <a:moveTo>
                  <a:pt x="0" y="0"/>
                </a:moveTo>
                <a:lnTo>
                  <a:pt x="6655681" y="0"/>
                </a:lnTo>
                <a:lnTo>
                  <a:pt x="6655681" y="6413656"/>
                </a:lnTo>
                <a:lnTo>
                  <a:pt x="0" y="6413656"/>
                </a:lnTo>
                <a:lnTo>
                  <a:pt x="0" y="0"/>
                </a:lnTo>
                <a:close/>
              </a:path>
            </a:pathLst>
          </a:custGeom>
          <a:blipFill>
            <a:blip r:embed="rId2">
              <a:alphaModFix amt="3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0800000">
            <a:off x="-1516160" y="-3959080"/>
            <a:ext cx="6655681" cy="6413656"/>
          </a:xfrm>
          <a:custGeom>
            <a:avLst/>
            <a:gdLst/>
            <a:ahLst/>
            <a:cxnLst/>
            <a:rect r="r" b="b" t="t" l="l"/>
            <a:pathLst>
              <a:path h="6413656" w="6655681">
                <a:moveTo>
                  <a:pt x="0" y="0"/>
                </a:moveTo>
                <a:lnTo>
                  <a:pt x="6655681" y="0"/>
                </a:lnTo>
                <a:lnTo>
                  <a:pt x="6655681" y="6413656"/>
                </a:lnTo>
                <a:lnTo>
                  <a:pt x="0" y="6413656"/>
                </a:lnTo>
                <a:lnTo>
                  <a:pt x="0" y="0"/>
                </a:lnTo>
                <a:close/>
              </a:path>
            </a:pathLst>
          </a:custGeom>
          <a:blipFill>
            <a:blip r:embed="rId2">
              <a:alphaModFix amt="3000"/>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523097" y="4136831"/>
            <a:ext cx="17241806" cy="2651512"/>
          </a:xfrm>
          <a:prstGeom prst="rect">
            <a:avLst/>
          </a:prstGeom>
        </p:spPr>
        <p:txBody>
          <a:bodyPr anchor="t" rtlCol="false" tIns="0" lIns="0" bIns="0" rIns="0">
            <a:spAutoFit/>
          </a:bodyPr>
          <a:lstStyle/>
          <a:p>
            <a:pPr algn="l">
              <a:lnSpc>
                <a:spcPts val="19244"/>
              </a:lnSpc>
            </a:pPr>
            <a:r>
              <a:rPr lang="en-US" sz="21623" b="true">
                <a:solidFill>
                  <a:srgbClr val="0B0027"/>
                </a:solidFill>
                <a:latin typeface="Pragmatica Bold"/>
                <a:ea typeface="Pragmatica Bold"/>
                <a:cs typeface="Pragmatica Bold"/>
                <a:sym typeface="Pragmatica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DAHW18cWLsg</dc:identifier>
  <dcterms:modified xsi:type="dcterms:W3CDTF">2011-08-01T06:04:30Z</dcterms:modified>
  <cp:revision>1</cp:revision>
  <dc:title>White and Black Minimalist Project  Proposal Presentation</dc:title>
</cp:coreProperties>
</file>